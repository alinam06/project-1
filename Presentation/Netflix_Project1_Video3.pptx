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1</a:t>
            </a:r>
          </a:p>
          <a:p>
            <a:r>
              <a:t>Read the narration below naturally. Text in [PRIVATE CUE] brackets is NOT to be read aloud. Replace it with your own actual experience, views, or evidence before recording.</a:t>
            </a:r>
          </a:p>
          <a:p/>
          <a:p>
            <a:r>
              <a:t>My recommendation to the committee is to keep Netflix on watch and defer initiating a position at the historical reference price of $86.12. My standalone analysis estimates about $51 per share in the base case and about $42 to $60 across the operating cases.</a:t>
            </a:r>
          </a:p>
          <a:p/>
          <a:p>
            <a:r>
              <a:t>For this committee scenario, the fund holds no position and evaluates the business through 2030. This is a retrospective comparison with the January 23, 2026 close using historical disclosures, including the after-close filing. It excludes the pending WBD transaction and is not a recommendation to trade at today's price.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2</a:t>
            </a:r>
          </a:p>
          <a:p>
            <a:r>
              <a:t>Read the narration below naturally. Text in [PRIVATE CUE] brackets is NOT to be read aloud. Replace it with your own actual experience, views, or evidence before recording.</a:t>
            </a:r>
          </a:p>
          <a:p/>
          <a:p>
            <a:r>
              <a:t>Netflix deserves attention because its business showed growth and improving profitability. In 2025, revenue increased 16% to about $45 billion, while operating profit increased 28% to about $13 billion. Membership growth, pricing and advertising supported revenue.</a:t>
            </a:r>
          </a:p>
          <a:p/>
          <a:p>
            <a:r>
              <a:t>The opportunity is for revenue growth to continue exceeding the spending needed to serve customers. If that persists, more cash can become available to investors. The committee's question is whether the price leaves enough room to earn an attractive return after considering the risks.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3</a:t>
            </a:r>
          </a:p>
          <a:p>
            <a:r>
              <a:t>Read the narration below naturally. Text in [PRIVATE CUE] brackets is NOT to be read aloud. Replace it with your own actual experience, views, or evidence before recording.</a:t>
            </a:r>
          </a:p>
          <a:p/>
          <a:p>
            <a:r>
              <a:t>Content is central to that judgment. Netflix invested about $17.1 billion in content in 2025, while recognizing about $16.4 billion of content expense through amortization. Expense and cash spending follow different schedules, so profit alone is an incomplete guide to value.</a:t>
            </a:r>
          </a:p>
          <a:p/>
          <a:p>
            <a:r>
              <a:t>The model also removes an identified $619 million charge from recurring costs, but retains the expected $700 million deposit as a cash outflow. The valuation gives credit for a cleaner recurring earnings base while still recognizing the cash obligation.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4</a:t>
            </a:r>
          </a:p>
          <a:p>
            <a:r>
              <a:t>Read the narration below naturally. Text in [PRIVATE CUE] brackets is NOT to be read aloud. Replace it with your own actual experience, views, or evidence before recording.</a:t>
            </a:r>
          </a:p>
          <a:p/>
          <a:p>
            <a:r>
              <a:t>My base case assumes revenue growth slows from 12% to 6% through 2030. Content investment grows more slowly, and other expenses take a smaller share of gross profit. Revenue reaches about $68 billion, with about $18 billion of annual cash available to capital providers by 2030.</a:t>
            </a:r>
          </a:p>
          <a:p/>
          <a:p>
            <a:r>
              <a:t>This already requires strong performance: the operating margin reaches about 35%. If Netflix needs substantially more content spending to retain customers, or pricing and advertising deliver less growth, these assumptions would need revision. The base case gives Netflix meaningful credit for improved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5</a:t>
            </a:r>
          </a:p>
          <a:p>
            <a:r>
              <a:t>Read the narration below naturally. Text in [PRIVATE CUE] brackets is NOT to be read aloud. Replace it with your own actual experience, views, or evidence before recording.</a:t>
            </a:r>
          </a:p>
          <a:p/>
          <a:p>
            <a:r>
              <a:t>Even with those improvements, the base value is about $51 per share, approximately 40.5% below the $86.12 comparison price. The stronger operating case reaches about $60, still below that price.</a:t>
            </a:r>
          </a:p>
          <a:p/>
          <a:p>
            <a:r>
              <a:t>That difference is a model valuation gap; it is not a prediction that the stock will fall by a particular amount. My conclusion is that this analysis does not establish enough supported value to justify committing the fund's capital at the reference price.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6</a:t>
            </a:r>
          </a:p>
          <a:p>
            <a:r>
              <a:t>Read the narration below naturally. Text in [PRIVATE CUE] brackets is NOT to be read aloud. Replace it with your own actual experience, views, or evidence before recording.</a:t>
            </a:r>
          </a:p>
          <a:p/>
          <a:p>
            <a:r>
              <a:t>I also asked what performance would support $86.12. Holding the other model assumptions fixed, revenue would need to reach about $100 billion in 2030, compared with $68 billion in the base case. That calculation keeps content growth unchanged, so the required revenue path becomes especially optimistic about spending efficiency.</a:t>
            </a:r>
          </a:p>
          <a:p/>
          <a:p>
            <a:r>
              <a:t>The analysis has other uncertainties. About three-quarters of enterprise value depends on cash beyond the five-year forecast. A separate discount-rate and long-run-growth sensitivity produces values of about $42 to $69. A structural impairment stress, combining very weak growth with sticky spending and poorer long-run returns, produces about $16.</a:t>
            </a:r>
          </a:p>
          <a:p/>
          <a:p>
            <a:r>
              <a:t>These experiments have no assigned probabilities. They show the conditions that challenge the decision and why the committee should avoid relying on one estimate.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7</a:t>
            </a:r>
          </a:p>
          <a:p>
            <a:r>
              <a:t>Read the narration below naturally. Text in [PRIVATE CUE] brackets is NOT to be read aloud. Replace it with your own actual experience, views, or evidence before recording.</a:t>
            </a:r>
          </a:p>
          <a:p/>
          <a:p>
            <a:r>
              <a:t>Disney-based comparisons imply about $41 per share using price to earnings and about $25 using enterprise value to revenue. I give them limited weight because Disney has a different business mix and tax effects, and a revenue multiple overlooks margin differences. One qualified peer does not establish a reliable peer range, so I do not average these references with the cash-flow valuation.</a:t>
            </a:r>
          </a:p>
          <a:p/>
          <a:p>
            <a:r>
              <a:t>The pending WBD transaction is another material gap. This model excludes its financing, dilution, integration costs and combined cash generation. That exclusion does not imply zero value or zero risk. The committee would need separate transaction analysis before any initiation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RECORDING NOTES — VIDEO 3, SLIDE 8</a:t>
            </a:r>
          </a:p>
          <a:p>
            <a:r>
              <a:t>Read the narration below naturally. Text in [PRIVATE CUE] brackets is NOT to be read aloud. Replace it with your own actual experience, views, or evidence before recording.</a:t>
            </a:r>
          </a:p>
          <a:p/>
          <a:p>
            <a:r>
              <a:t>I recommend allocating no capital on the evidence presented and keeping Netflix on watch. A lower price could create an entry opportunity, but entry should be below supported value with an explicit margin of safety and satisfactory transaction underwriting. Stronger evidence of sustainable cash generation could also justify rebuilding the valuation.</a:t>
            </a:r>
          </a:p>
          <a:p/>
          <a:p>
            <a:r>
              <a:t>I propose reviewing annual growth, margins and content payments after each earnings release. Growth tracking below the 10% first-year low-case assumption would prompt deeper review, with seasonality considered. Persistent growth near zero to 2%, alongside high spending, would challenge whether the business still belongs on watch.</a:t>
            </a:r>
          </a:p>
          <a:p/>
          <a:p>
            <a:r>
              <a:t>The committee should revisit the recommendation when price, supported economics or transaction evidence changes materially. At the historical reference price, this analysis supports deferring initiation.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Netflix: WATCH–DEFER</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Committee decision • No current position</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01</a:t>
            </a:r>
          </a:p>
        </p:txBody>
      </p:sp>
      <p:sp>
        <p:nvSpPr>
          <p:cNvPr id="10" name="Rounded Rectangle 9"/>
          <p:cNvSpPr/>
          <p:nvPr/>
        </p:nvSpPr>
        <p:spPr>
          <a:xfrm>
            <a:off x="777240" y="2523744"/>
            <a:ext cx="4937760" cy="251460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2724912"/>
            <a:ext cx="4517136" cy="274320"/>
          </a:xfrm>
          <a:prstGeom prst="rect">
            <a:avLst/>
          </a:prstGeom>
          <a:noFill/>
        </p:spPr>
        <p:txBody>
          <a:bodyPr wrap="square">
            <a:spAutoFit/>
          </a:bodyPr>
          <a:lstStyle/>
          <a:p>
            <a:pPr>
              <a:spcAft>
                <a:spcPts val="700"/>
              </a:spcAft>
              <a:defRPr sz="1100" b="1">
                <a:solidFill>
                  <a:srgbClr val="4B5767"/>
                </a:solidFill>
                <a:latin typeface="Aptos"/>
              </a:defRPr>
            </a:pPr>
            <a:r>
              <a:t>BASE VALUE/SHARE</a:t>
            </a:r>
          </a:p>
        </p:txBody>
      </p:sp>
      <p:sp>
        <p:nvSpPr>
          <p:cNvPr id="12" name="TextBox 11"/>
          <p:cNvSpPr txBox="1"/>
          <p:nvPr/>
        </p:nvSpPr>
        <p:spPr>
          <a:xfrm>
            <a:off x="987552" y="3191256"/>
            <a:ext cx="4517136" cy="630936"/>
          </a:xfrm>
          <a:prstGeom prst="rect">
            <a:avLst/>
          </a:prstGeom>
          <a:noFill/>
        </p:spPr>
        <p:txBody>
          <a:bodyPr wrap="square">
            <a:spAutoFit/>
          </a:bodyPr>
          <a:lstStyle/>
          <a:p>
            <a:pPr>
              <a:spcAft>
                <a:spcPts val="700"/>
              </a:spcAft>
              <a:defRPr sz="2900" b="1">
                <a:solidFill>
                  <a:srgbClr val="141B2A"/>
                </a:solidFill>
                <a:latin typeface="Aptos"/>
              </a:defRPr>
            </a:pPr>
            <a:r>
              <a:t>$51.20</a:t>
            </a:r>
          </a:p>
        </p:txBody>
      </p:sp>
      <p:sp>
        <p:nvSpPr>
          <p:cNvPr id="13" name="Rounded Rectangle 12"/>
          <p:cNvSpPr/>
          <p:nvPr/>
        </p:nvSpPr>
        <p:spPr>
          <a:xfrm>
            <a:off x="6428232" y="2523744"/>
            <a:ext cx="4937760" cy="251460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38544" y="2724912"/>
            <a:ext cx="4517136" cy="274320"/>
          </a:xfrm>
          <a:prstGeom prst="rect">
            <a:avLst/>
          </a:prstGeom>
          <a:noFill/>
        </p:spPr>
        <p:txBody>
          <a:bodyPr wrap="square">
            <a:spAutoFit/>
          </a:bodyPr>
          <a:lstStyle/>
          <a:p>
            <a:pPr>
              <a:spcAft>
                <a:spcPts val="700"/>
              </a:spcAft>
              <a:defRPr sz="1100" b="1">
                <a:solidFill>
                  <a:srgbClr val="4B5767"/>
                </a:solidFill>
                <a:latin typeface="Aptos"/>
              </a:defRPr>
            </a:pPr>
            <a:r>
              <a:t>HISTORICAL CLOSE</a:t>
            </a:r>
          </a:p>
        </p:txBody>
      </p:sp>
      <p:sp>
        <p:nvSpPr>
          <p:cNvPr id="15" name="TextBox 14"/>
          <p:cNvSpPr txBox="1"/>
          <p:nvPr/>
        </p:nvSpPr>
        <p:spPr>
          <a:xfrm>
            <a:off x="6638544" y="3191256"/>
            <a:ext cx="4517136" cy="630936"/>
          </a:xfrm>
          <a:prstGeom prst="rect">
            <a:avLst/>
          </a:prstGeom>
          <a:noFill/>
        </p:spPr>
        <p:txBody>
          <a:bodyPr wrap="square">
            <a:spAutoFit/>
          </a:bodyPr>
          <a:lstStyle/>
          <a:p>
            <a:pPr>
              <a:spcAft>
                <a:spcPts val="700"/>
              </a:spcAft>
              <a:defRPr sz="2900" b="1">
                <a:solidFill>
                  <a:srgbClr val="141B2A"/>
                </a:solidFill>
                <a:latin typeface="Aptos"/>
              </a:defRPr>
            </a:pPr>
            <a:r>
              <a:t>$86.12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Growth makes Netflix worth examining</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FY2025 financial momentum</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02</a:t>
            </a:r>
          </a:p>
        </p:txBody>
      </p:sp>
      <p:sp>
        <p:nvSpPr>
          <p:cNvPr id="10" name="Rounded Rectangle 9"/>
          <p:cNvSpPr/>
          <p:nvPr/>
        </p:nvSpPr>
        <p:spPr>
          <a:xfrm>
            <a:off x="676656"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REVENUE</a:t>
            </a:r>
          </a:p>
        </p:txBody>
      </p:sp>
      <p:sp>
        <p:nvSpPr>
          <p:cNvPr id="12" name="TextBox 11"/>
          <p:cNvSpPr txBox="1"/>
          <p:nvPr/>
        </p:nvSpPr>
        <p:spPr>
          <a:xfrm>
            <a:off x="886968"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$45.18bn</a:t>
            </a:r>
          </a:p>
        </p:txBody>
      </p:sp>
      <p:sp>
        <p:nvSpPr>
          <p:cNvPr id="13" name="Rounded Rectangle 12"/>
          <p:cNvSpPr/>
          <p:nvPr/>
        </p:nvSpPr>
        <p:spPr>
          <a:xfrm>
            <a:off x="4498848"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GROWTH</a:t>
            </a:r>
          </a:p>
        </p:txBody>
      </p:sp>
      <p:sp>
        <p:nvSpPr>
          <p:cNvPr id="15" name="TextBox 14"/>
          <p:cNvSpPr txBox="1"/>
          <p:nvPr/>
        </p:nvSpPr>
        <p:spPr>
          <a:xfrm>
            <a:off x="4709160"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+16%</a:t>
            </a:r>
          </a:p>
        </p:txBody>
      </p:sp>
      <p:sp>
        <p:nvSpPr>
          <p:cNvPr id="16" name="Rounded Rectangle 15"/>
          <p:cNvSpPr/>
          <p:nvPr/>
        </p:nvSpPr>
        <p:spPr>
          <a:xfrm>
            <a:off x="8321040"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352"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OPERATING PROFIT</a:t>
            </a:r>
          </a:p>
        </p:txBody>
      </p:sp>
      <p:sp>
        <p:nvSpPr>
          <p:cNvPr id="18" name="TextBox 17"/>
          <p:cNvSpPr txBox="1"/>
          <p:nvPr/>
        </p:nvSpPr>
        <p:spPr>
          <a:xfrm>
            <a:off x="8531352"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$13.33bn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Content spending determines the cash payoff</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2025 content economics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03</a:t>
            </a:r>
          </a:p>
        </p:txBody>
      </p:sp>
      <p:sp>
        <p:nvSpPr>
          <p:cNvPr id="10" name="Rounded Rectangle 9"/>
          <p:cNvSpPr/>
          <p:nvPr/>
        </p:nvSpPr>
        <p:spPr>
          <a:xfrm>
            <a:off x="676656"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CONTENT ADDITIONS</a:t>
            </a:r>
          </a:p>
        </p:txBody>
      </p:sp>
      <p:sp>
        <p:nvSpPr>
          <p:cNvPr id="12" name="TextBox 11"/>
          <p:cNvSpPr txBox="1"/>
          <p:nvPr/>
        </p:nvSpPr>
        <p:spPr>
          <a:xfrm>
            <a:off x="886968"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$17.10bn</a:t>
            </a:r>
          </a:p>
        </p:txBody>
      </p:sp>
      <p:sp>
        <p:nvSpPr>
          <p:cNvPr id="13" name="Rounded Rectangle 12"/>
          <p:cNvSpPr/>
          <p:nvPr/>
        </p:nvSpPr>
        <p:spPr>
          <a:xfrm>
            <a:off x="4498848"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AMORTIZATION</a:t>
            </a:r>
          </a:p>
        </p:txBody>
      </p:sp>
      <p:sp>
        <p:nvSpPr>
          <p:cNvPr id="15" name="TextBox 14"/>
          <p:cNvSpPr txBox="1"/>
          <p:nvPr/>
        </p:nvSpPr>
        <p:spPr>
          <a:xfrm>
            <a:off x="4709160"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$16.42bn</a:t>
            </a:r>
          </a:p>
        </p:txBody>
      </p:sp>
      <p:sp>
        <p:nvSpPr>
          <p:cNvPr id="16" name="Rounded Rectangle 15"/>
          <p:cNvSpPr/>
          <p:nvPr/>
        </p:nvSpPr>
        <p:spPr>
          <a:xfrm>
            <a:off x="8321040"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352"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BRAZIL DEPOSIT EXPECTED</a:t>
            </a:r>
          </a:p>
        </p:txBody>
      </p:sp>
      <p:sp>
        <p:nvSpPr>
          <p:cNvPr id="18" name="TextBox 17"/>
          <p:cNvSpPr txBox="1"/>
          <p:nvPr/>
        </p:nvSpPr>
        <p:spPr>
          <a:xfrm>
            <a:off x="8531352"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$700m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The base case already assumes strong execution</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2026 → 2030 projections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04</a:t>
            </a:r>
          </a:p>
        </p:txBody>
      </p:sp>
      <p:sp>
        <p:nvSpPr>
          <p:cNvPr id="10" name="Rectangle 9"/>
          <p:cNvSpPr/>
          <p:nvPr/>
        </p:nvSpPr>
        <p:spPr>
          <a:xfrm>
            <a:off x="731520" y="2468880"/>
            <a:ext cx="10698480" cy="530352"/>
          </a:xfrm>
          <a:prstGeom prst="rect">
            <a:avLst/>
          </a:prstGeom>
          <a:solidFill>
            <a:srgbClr val="14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Measure</a:t>
            </a:r>
          </a:p>
        </p:txBody>
      </p:sp>
      <p:sp>
        <p:nvSpPr>
          <p:cNvPr id="12" name="TextBox 11"/>
          <p:cNvSpPr txBox="1"/>
          <p:nvPr/>
        </p:nvSpPr>
        <p:spPr>
          <a:xfrm>
            <a:off x="444398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2026</a:t>
            </a:r>
          </a:p>
        </p:txBody>
      </p:sp>
      <p:sp>
        <p:nvSpPr>
          <p:cNvPr id="13" name="TextBox 12"/>
          <p:cNvSpPr txBox="1"/>
          <p:nvPr/>
        </p:nvSpPr>
        <p:spPr>
          <a:xfrm>
            <a:off x="8010144" y="2578608"/>
            <a:ext cx="3319272" cy="320040"/>
          </a:xfrm>
          <a:prstGeom prst="rect">
            <a:avLst/>
          </a:prstGeom>
          <a:noFill/>
        </p:spPr>
        <p:txBody>
          <a:bodyPr wrap="square">
            <a:spAutoFit/>
          </a:bodyPr>
          <a:lstStyle/>
          <a:p>
            <a:pPr>
              <a:spcAft>
                <a:spcPts val="700"/>
              </a:spcAft>
              <a:defRPr sz="1300" b="1">
                <a:solidFill>
                  <a:srgbClr val="FFFFFF"/>
                </a:solidFill>
                <a:latin typeface="Aptos"/>
              </a:defRPr>
            </a:pPr>
            <a:r>
              <a:t>2030</a:t>
            </a:r>
          </a:p>
        </p:txBody>
      </p:sp>
      <p:sp>
        <p:nvSpPr>
          <p:cNvPr id="14" name="Rectangle 13"/>
          <p:cNvSpPr/>
          <p:nvPr/>
        </p:nvSpPr>
        <p:spPr>
          <a:xfrm>
            <a:off x="731520" y="3063240"/>
            <a:ext cx="10698480" cy="48463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154680"/>
            <a:ext cx="3310128" cy="310896"/>
          </a:xfrm>
          <a:prstGeom prst="rect">
            <a:avLst/>
          </a:prstGeom>
          <a:noFill/>
        </p:spPr>
        <p:txBody>
          <a:bodyPr wrap="square">
            <a:spAutoFit/>
          </a:bodyPr>
          <a:lstStyle/>
          <a:p>
            <a:pPr>
              <a:spcAft>
                <a:spcPts val="700"/>
              </a:spcAft>
              <a:defRPr sz="1300" b="1">
                <a:solidFill>
                  <a:srgbClr val="141B2A"/>
                </a:solidFill>
                <a:latin typeface="Aptos"/>
              </a:defRPr>
            </a:pPr>
            <a:r>
              <a:t>Revenue growth</a:t>
            </a:r>
          </a:p>
        </p:txBody>
      </p:sp>
      <p:sp>
        <p:nvSpPr>
          <p:cNvPr id="16" name="TextBox 15"/>
          <p:cNvSpPr txBox="1"/>
          <p:nvPr/>
        </p:nvSpPr>
        <p:spPr>
          <a:xfrm>
            <a:off x="4453128" y="3154680"/>
            <a:ext cx="3310128" cy="310896"/>
          </a:xfrm>
          <a:prstGeom prst="rect">
            <a:avLst/>
          </a:prstGeom>
          <a:noFill/>
        </p:spPr>
        <p:txBody>
          <a:bodyPr wrap="square">
            <a:spAutoFit/>
          </a:bodyPr>
          <a:lstStyle/>
          <a:p>
            <a:pPr>
              <a:spcAft>
                <a:spcPts val="700"/>
              </a:spcAft>
              <a:defRPr sz="1300" b="0">
                <a:solidFill>
                  <a:srgbClr val="141B2A"/>
                </a:solidFill>
                <a:latin typeface="Aptos"/>
              </a:defRPr>
            </a:pPr>
            <a:r>
              <a:t>12%</a:t>
            </a:r>
          </a:p>
        </p:txBody>
      </p:sp>
      <p:sp>
        <p:nvSpPr>
          <p:cNvPr id="17" name="TextBox 16"/>
          <p:cNvSpPr txBox="1"/>
          <p:nvPr/>
        </p:nvSpPr>
        <p:spPr>
          <a:xfrm>
            <a:off x="8019288" y="3154680"/>
            <a:ext cx="3310128" cy="310896"/>
          </a:xfrm>
          <a:prstGeom prst="rect">
            <a:avLst/>
          </a:prstGeom>
          <a:noFill/>
        </p:spPr>
        <p:txBody>
          <a:bodyPr wrap="square">
            <a:spAutoFit/>
          </a:bodyPr>
          <a:lstStyle/>
          <a:p>
            <a:pPr>
              <a:spcAft>
                <a:spcPts val="700"/>
              </a:spcAft>
              <a:defRPr sz="1300" b="0">
                <a:solidFill>
                  <a:srgbClr val="141B2A"/>
                </a:solidFill>
                <a:latin typeface="Aptos"/>
              </a:defRPr>
            </a:pPr>
            <a:r>
              <a:t>6%</a:t>
            </a:r>
          </a:p>
        </p:txBody>
      </p:sp>
      <p:sp>
        <p:nvSpPr>
          <p:cNvPr id="18" name="Rectangle 17"/>
          <p:cNvSpPr/>
          <p:nvPr/>
        </p:nvSpPr>
        <p:spPr>
          <a:xfrm>
            <a:off x="731520" y="3611880"/>
            <a:ext cx="106984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703320"/>
            <a:ext cx="3310128" cy="310896"/>
          </a:xfrm>
          <a:prstGeom prst="rect">
            <a:avLst/>
          </a:prstGeom>
          <a:noFill/>
        </p:spPr>
        <p:txBody>
          <a:bodyPr wrap="square">
            <a:spAutoFit/>
          </a:bodyPr>
          <a:lstStyle/>
          <a:p>
            <a:pPr>
              <a:spcAft>
                <a:spcPts val="700"/>
              </a:spcAft>
              <a:defRPr sz="1300" b="1">
                <a:solidFill>
                  <a:srgbClr val="141B2A"/>
                </a:solidFill>
                <a:latin typeface="Aptos"/>
              </a:defRPr>
            </a:pPr>
            <a:r>
              <a:t>Revenue</a:t>
            </a:r>
          </a:p>
        </p:txBody>
      </p:sp>
      <p:sp>
        <p:nvSpPr>
          <p:cNvPr id="20" name="TextBox 19"/>
          <p:cNvSpPr txBox="1"/>
          <p:nvPr/>
        </p:nvSpPr>
        <p:spPr>
          <a:xfrm>
            <a:off x="4453128" y="3703320"/>
            <a:ext cx="3310128" cy="310896"/>
          </a:xfrm>
          <a:prstGeom prst="rect">
            <a:avLst/>
          </a:prstGeom>
          <a:noFill/>
        </p:spPr>
        <p:txBody>
          <a:bodyPr wrap="square">
            <a:spAutoFit/>
          </a:bodyPr>
          <a:lstStyle/>
          <a:p>
            <a:pPr>
              <a:spcAft>
                <a:spcPts val="700"/>
              </a:spcAft>
              <a:defRPr sz="1300" b="0">
                <a:solidFill>
                  <a:srgbClr val="141B2A"/>
                </a:solidFill>
                <a:latin typeface="Aptos"/>
              </a:defRPr>
            </a:pPr>
            <a:r>
              <a:t>$50.61bn</a:t>
            </a:r>
          </a:p>
        </p:txBody>
      </p:sp>
      <p:sp>
        <p:nvSpPr>
          <p:cNvPr id="21" name="TextBox 20"/>
          <p:cNvSpPr txBox="1"/>
          <p:nvPr/>
        </p:nvSpPr>
        <p:spPr>
          <a:xfrm>
            <a:off x="8019288" y="3703320"/>
            <a:ext cx="3310128" cy="310896"/>
          </a:xfrm>
          <a:prstGeom prst="rect">
            <a:avLst/>
          </a:prstGeom>
          <a:noFill/>
        </p:spPr>
        <p:txBody>
          <a:bodyPr wrap="square">
            <a:spAutoFit/>
          </a:bodyPr>
          <a:lstStyle/>
          <a:p>
            <a:pPr>
              <a:spcAft>
                <a:spcPts val="700"/>
              </a:spcAft>
              <a:defRPr sz="1300" b="0">
                <a:solidFill>
                  <a:srgbClr val="141B2A"/>
                </a:solidFill>
                <a:latin typeface="Aptos"/>
              </a:defRPr>
            </a:pPr>
            <a:r>
              <a:t>$68.19bn</a:t>
            </a:r>
          </a:p>
        </p:txBody>
      </p:sp>
      <p:sp>
        <p:nvSpPr>
          <p:cNvPr id="22" name="Rectangle 21"/>
          <p:cNvSpPr/>
          <p:nvPr/>
        </p:nvSpPr>
        <p:spPr>
          <a:xfrm>
            <a:off x="731520" y="4160520"/>
            <a:ext cx="10698480" cy="48463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4251959"/>
            <a:ext cx="3310128" cy="310896"/>
          </a:xfrm>
          <a:prstGeom prst="rect">
            <a:avLst/>
          </a:prstGeom>
          <a:noFill/>
        </p:spPr>
        <p:txBody>
          <a:bodyPr wrap="square">
            <a:spAutoFit/>
          </a:bodyPr>
          <a:lstStyle/>
          <a:p>
            <a:pPr>
              <a:spcAft>
                <a:spcPts val="700"/>
              </a:spcAft>
              <a:defRPr sz="1300" b="1">
                <a:solidFill>
                  <a:srgbClr val="141B2A"/>
                </a:solidFill>
                <a:latin typeface="Aptos"/>
              </a:defRPr>
            </a:pPr>
            <a:r>
              <a:t>FCFF</a:t>
            </a:r>
          </a:p>
        </p:txBody>
      </p:sp>
      <p:sp>
        <p:nvSpPr>
          <p:cNvPr id="24" name="TextBox 23"/>
          <p:cNvSpPr txBox="1"/>
          <p:nvPr/>
        </p:nvSpPr>
        <p:spPr>
          <a:xfrm>
            <a:off x="4453128" y="4251959"/>
            <a:ext cx="3310128" cy="310896"/>
          </a:xfrm>
          <a:prstGeom prst="rect">
            <a:avLst/>
          </a:prstGeom>
          <a:noFill/>
        </p:spPr>
        <p:txBody>
          <a:bodyPr wrap="square">
            <a:spAutoFit/>
          </a:bodyPr>
          <a:lstStyle/>
          <a:p>
            <a:pPr>
              <a:spcAft>
                <a:spcPts val="700"/>
              </a:spcAft>
              <a:defRPr sz="1300" b="0">
                <a:solidFill>
                  <a:srgbClr val="141B2A"/>
                </a:solidFill>
                <a:latin typeface="Aptos"/>
              </a:defRPr>
            </a:pPr>
            <a:r>
              <a:t>$10.93bn</a:t>
            </a:r>
          </a:p>
        </p:txBody>
      </p:sp>
      <p:sp>
        <p:nvSpPr>
          <p:cNvPr id="25" name="TextBox 24"/>
          <p:cNvSpPr txBox="1"/>
          <p:nvPr/>
        </p:nvSpPr>
        <p:spPr>
          <a:xfrm>
            <a:off x="8019288" y="4251959"/>
            <a:ext cx="3310128" cy="310896"/>
          </a:xfrm>
          <a:prstGeom prst="rect">
            <a:avLst/>
          </a:prstGeom>
          <a:noFill/>
        </p:spPr>
        <p:txBody>
          <a:bodyPr wrap="square">
            <a:spAutoFit/>
          </a:bodyPr>
          <a:lstStyle/>
          <a:p>
            <a:pPr>
              <a:spcAft>
                <a:spcPts val="700"/>
              </a:spcAft>
              <a:defRPr sz="1300" b="0">
                <a:solidFill>
                  <a:srgbClr val="141B2A"/>
                </a:solidFill>
                <a:latin typeface="Aptos"/>
              </a:defRPr>
            </a:pPr>
            <a:r>
              <a:t>$18.00bn</a:t>
            </a:r>
          </a:p>
        </p:txBody>
      </p:sp>
      <p:sp>
        <p:nvSpPr>
          <p:cNvPr id="26" name="Rectangle 25"/>
          <p:cNvSpPr/>
          <p:nvPr/>
        </p:nvSpPr>
        <p:spPr>
          <a:xfrm>
            <a:off x="731520" y="4709160"/>
            <a:ext cx="1069848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800600"/>
            <a:ext cx="3310128" cy="310896"/>
          </a:xfrm>
          <a:prstGeom prst="rect">
            <a:avLst/>
          </a:prstGeom>
          <a:noFill/>
        </p:spPr>
        <p:txBody>
          <a:bodyPr wrap="square">
            <a:spAutoFit/>
          </a:bodyPr>
          <a:lstStyle/>
          <a:p>
            <a:pPr>
              <a:spcAft>
                <a:spcPts val="700"/>
              </a:spcAft>
              <a:defRPr sz="1300" b="1">
                <a:solidFill>
                  <a:srgbClr val="141B2A"/>
                </a:solidFill>
                <a:latin typeface="Aptos"/>
              </a:defRPr>
            </a:pPr>
            <a:r>
              <a:t>EBIT margin</a:t>
            </a:r>
          </a:p>
        </p:txBody>
      </p:sp>
      <p:sp>
        <p:nvSpPr>
          <p:cNvPr id="28" name="TextBox 27"/>
          <p:cNvSpPr txBox="1"/>
          <p:nvPr/>
        </p:nvSpPr>
        <p:spPr>
          <a:xfrm>
            <a:off x="4453128" y="4800600"/>
            <a:ext cx="3310128" cy="310896"/>
          </a:xfrm>
          <a:prstGeom prst="rect">
            <a:avLst/>
          </a:prstGeom>
          <a:noFill/>
        </p:spPr>
        <p:txBody>
          <a:bodyPr wrap="square">
            <a:spAutoFit/>
          </a:bodyPr>
          <a:lstStyle/>
          <a:p>
            <a:pPr>
              <a:spcAft>
                <a:spcPts val="700"/>
              </a:spcAft>
              <a:defRPr sz="1300" b="0">
                <a:solidFill>
                  <a:srgbClr val="141B2A"/>
                </a:solidFill>
                <a:latin typeface="Aptos"/>
              </a:defRPr>
            </a:pPr>
            <a:r>
              <a:t>—</a:t>
            </a:r>
          </a:p>
        </p:txBody>
      </p:sp>
      <p:sp>
        <p:nvSpPr>
          <p:cNvPr id="29" name="TextBox 28"/>
          <p:cNvSpPr txBox="1"/>
          <p:nvPr/>
        </p:nvSpPr>
        <p:spPr>
          <a:xfrm>
            <a:off x="8019288" y="4800600"/>
            <a:ext cx="3310128" cy="310896"/>
          </a:xfrm>
          <a:prstGeom prst="rect">
            <a:avLst/>
          </a:prstGeom>
          <a:noFill/>
        </p:spPr>
        <p:txBody>
          <a:bodyPr wrap="square">
            <a:spAutoFit/>
          </a:bodyPr>
          <a:lstStyle/>
          <a:p>
            <a:pPr>
              <a:spcAft>
                <a:spcPts val="700"/>
              </a:spcAft>
              <a:defRPr sz="1300" b="0">
                <a:solidFill>
                  <a:srgbClr val="141B2A"/>
                </a:solidFill>
                <a:latin typeface="Aptos"/>
              </a:defRPr>
            </a:pPr>
            <a:r>
              <a:t>35.4%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The reference price is above every operating case</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Valuation vs January 23 close</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05</a:t>
            </a:r>
          </a:p>
        </p:txBody>
      </p:sp>
      <p:sp>
        <p:nvSpPr>
          <p:cNvPr id="10" name="Rounded Rectangle 9"/>
          <p:cNvSpPr/>
          <p:nvPr/>
        </p:nvSpPr>
        <p:spPr>
          <a:xfrm>
            <a:off x="6583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LOW</a:t>
            </a:r>
          </a:p>
        </p:txBody>
      </p:sp>
      <p:sp>
        <p:nvSpPr>
          <p:cNvPr id="12" name="TextBox 11"/>
          <p:cNvSpPr txBox="1"/>
          <p:nvPr/>
        </p:nvSpPr>
        <p:spPr>
          <a:xfrm>
            <a:off x="841247"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$42.13</a:t>
            </a:r>
          </a:p>
        </p:txBody>
      </p:sp>
      <p:sp>
        <p:nvSpPr>
          <p:cNvPr id="13" name="Rounded Rectangle 12"/>
          <p:cNvSpPr/>
          <p:nvPr/>
        </p:nvSpPr>
        <p:spPr>
          <a:xfrm>
            <a:off x="34015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4448"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BASE</a:t>
            </a:r>
          </a:p>
        </p:txBody>
      </p:sp>
      <p:sp>
        <p:nvSpPr>
          <p:cNvPr id="15" name="TextBox 14"/>
          <p:cNvSpPr txBox="1"/>
          <p:nvPr/>
        </p:nvSpPr>
        <p:spPr>
          <a:xfrm>
            <a:off x="3584448"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$51.20</a:t>
            </a:r>
          </a:p>
        </p:txBody>
      </p:sp>
      <p:sp>
        <p:nvSpPr>
          <p:cNvPr id="16" name="Rounded Rectangle 15"/>
          <p:cNvSpPr/>
          <p:nvPr/>
        </p:nvSpPr>
        <p:spPr>
          <a:xfrm>
            <a:off x="61447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HIGH</a:t>
            </a:r>
          </a:p>
        </p:txBody>
      </p:sp>
      <p:sp>
        <p:nvSpPr>
          <p:cNvPr id="18" name="TextBox 17"/>
          <p:cNvSpPr txBox="1"/>
          <p:nvPr/>
        </p:nvSpPr>
        <p:spPr>
          <a:xfrm>
            <a:off x="6327648"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$60.33</a:t>
            </a:r>
          </a:p>
        </p:txBody>
      </p:sp>
      <p:sp>
        <p:nvSpPr>
          <p:cNvPr id="19" name="Rounded Rectangle 18"/>
          <p:cNvSpPr/>
          <p:nvPr/>
        </p:nvSpPr>
        <p:spPr>
          <a:xfrm>
            <a:off x="8887968" y="2651760"/>
            <a:ext cx="2587752" cy="2157984"/>
          </a:xfrm>
          <a:prstGeom prst="roundRect">
            <a:avLst/>
          </a:prstGeom>
          <a:solidFill>
            <a:srgbClr val="14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0848" y="2999232"/>
            <a:ext cx="2240280" cy="310896"/>
          </a:xfrm>
          <a:prstGeom prst="rect">
            <a:avLst/>
          </a:prstGeom>
          <a:noFill/>
        </p:spPr>
        <p:txBody>
          <a:bodyPr wrap="square">
            <a:spAutoFit/>
          </a:bodyPr>
          <a:lstStyle/>
          <a:p>
            <a:pPr>
              <a:spcAft>
                <a:spcPts val="700"/>
              </a:spcAft>
              <a:defRPr sz="1200" b="1">
                <a:solidFill>
                  <a:srgbClr val="FFFFFF"/>
                </a:solidFill>
                <a:latin typeface="Aptos"/>
              </a:defRPr>
            </a:pPr>
            <a:r>
              <a:t>CLOSE</a:t>
            </a:r>
          </a:p>
        </p:txBody>
      </p:sp>
      <p:sp>
        <p:nvSpPr>
          <p:cNvPr id="21" name="TextBox 20"/>
          <p:cNvSpPr txBox="1"/>
          <p:nvPr/>
        </p:nvSpPr>
        <p:spPr>
          <a:xfrm>
            <a:off x="9070848" y="3721608"/>
            <a:ext cx="2350008" cy="658368"/>
          </a:xfrm>
          <a:prstGeom prst="rect">
            <a:avLst/>
          </a:prstGeom>
          <a:noFill/>
        </p:spPr>
        <p:txBody>
          <a:bodyPr wrap="square">
            <a:spAutoFit/>
          </a:bodyPr>
          <a:lstStyle/>
          <a:p>
            <a:pPr>
              <a:spcAft>
                <a:spcPts val="700"/>
              </a:spcAft>
              <a:defRPr sz="2800" b="1">
                <a:solidFill>
                  <a:srgbClr val="FFFFFF"/>
                </a:solidFill>
                <a:latin typeface="Aptos"/>
              </a:defRPr>
            </a:pPr>
            <a:r>
              <a:t>$86.12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What must improve to justify the price?</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Reverse DCF + downside challenges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06</a:t>
            </a:r>
          </a:p>
        </p:txBody>
      </p:sp>
      <p:sp>
        <p:nvSpPr>
          <p:cNvPr id="10" name="Rounded Rectangle 9"/>
          <p:cNvSpPr/>
          <p:nvPr/>
        </p:nvSpPr>
        <p:spPr>
          <a:xfrm>
            <a:off x="676656"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2030 BASE REVENUE</a:t>
            </a:r>
          </a:p>
        </p:txBody>
      </p:sp>
      <p:sp>
        <p:nvSpPr>
          <p:cNvPr id="12" name="TextBox 11"/>
          <p:cNvSpPr txBox="1"/>
          <p:nvPr/>
        </p:nvSpPr>
        <p:spPr>
          <a:xfrm>
            <a:off x="886968"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$68bn</a:t>
            </a:r>
          </a:p>
        </p:txBody>
      </p:sp>
      <p:sp>
        <p:nvSpPr>
          <p:cNvPr id="13" name="Rounded Rectangle 12"/>
          <p:cNvSpPr/>
          <p:nvPr/>
        </p:nvSpPr>
        <p:spPr>
          <a:xfrm>
            <a:off x="4498848"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REVERSE-DCF REVENUE</a:t>
            </a:r>
          </a:p>
        </p:txBody>
      </p:sp>
      <p:sp>
        <p:nvSpPr>
          <p:cNvPr id="15" name="TextBox 14"/>
          <p:cNvSpPr txBox="1"/>
          <p:nvPr/>
        </p:nvSpPr>
        <p:spPr>
          <a:xfrm>
            <a:off x="4709160"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~$100bn</a:t>
            </a:r>
          </a:p>
        </p:txBody>
      </p:sp>
      <p:sp>
        <p:nvSpPr>
          <p:cNvPr id="16" name="Rounded Rectangle 15"/>
          <p:cNvSpPr/>
          <p:nvPr/>
        </p:nvSpPr>
        <p:spPr>
          <a:xfrm>
            <a:off x="8321040"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31352"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TERMINAL SHARE OF EV</a:t>
            </a:r>
          </a:p>
        </p:txBody>
      </p:sp>
      <p:sp>
        <p:nvSpPr>
          <p:cNvPr id="18" name="TextBox 17"/>
          <p:cNvSpPr txBox="1"/>
          <p:nvPr/>
        </p:nvSpPr>
        <p:spPr>
          <a:xfrm>
            <a:off x="8531352"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Comparable methods have limits</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Disney cross-check &amp; WBD boundary</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07</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Disney P/E implies ~$41/share; EV/revenue ~$25</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Disney is diversified; one peer is not a market consensus</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WBD deal financing, dilution, and synergies excluded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3</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Committee action: keep Netflix on watch</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Proposed conditions to reconsider</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08</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Allocate no capital at the historical reference price</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Review growth, margins, content cash payments each earnings cycle</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Require better supported value and separate WBD underwriting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