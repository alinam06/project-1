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425"/>
    <p:restoredTop sz="68592"/>
  </p:normalViewPr>
  <p:slideViewPr>
    <p:cSldViewPr snapToGrid="0" snapToObjects="1">
      <p:cViewPr varScale="1">
        <p:scale>
          <a:sx n="52" d="100"/>
          <a:sy n="52" d="100"/>
        </p:scale>
        <p:origin x="54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6834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1</a:t>
            </a:r>
            <a:endParaRPr lang="en-US" dirty="0"/>
          </a:p>
          <a:p>
            <a:endParaRPr lang="en-US" dirty="0"/>
          </a:p>
          <a:p>
            <a:r>
              <a:rPr lang="en-US" dirty="0"/>
              <a:t>My name is Alina Mato, and this is my first video presentation for project one. The company I picked to research over the course of these 8 weeks is Netflix.</a:t>
            </a:r>
            <a:endParaRPr dirty="0"/>
          </a:p>
          <a:p>
            <a:endParaRPr dirty="0"/>
          </a:p>
          <a:p>
            <a:r>
              <a:rPr dirty="0"/>
              <a:t>I have a Netflix subscription, and have some background knowledge on the company and know that it has been publicly traded for 24 years. I selected Netflix to investigate whether its business growth could translate into an attractive investment opportunity. My objective was to assess whether the potential return justified the price and the risks for a fund considering a new position. I wanted to understand what investors would actually receive from the company's future cash generation.</a:t>
            </a:r>
          </a:p>
          <a:p>
            <a:endParaRPr dirty="0"/>
          </a:p>
          <a:p>
            <a:r>
              <a:rPr dirty="0"/>
              <a:t>This project uses historical financial disclosures and compares the standalone valuation with the January 23, 2026 closing price. It is a retrospective analysis, rather than a recommendation to trade Netflix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2</a:t>
            </a:r>
          </a:p>
          <a:p>
            <a:endParaRPr dirty="0"/>
          </a:p>
          <a:p>
            <a:r>
              <a:rPr dirty="0"/>
              <a:t>The initial evidence gave me a reason to look more closely. In 2025, revenue grew 16%, while operating income grew 28%. Membership growth, pricing and advertising supported revenue. That suggested a business in which growth might also improve profitability.</a:t>
            </a:r>
          </a:p>
          <a:p>
            <a:endParaRPr dirty="0"/>
          </a:p>
          <a:p>
            <a:r>
              <a:rPr dirty="0"/>
              <a:t>The investment question was whether those gains could continue after paying for the programming and other spending needed to keep customers. I also needed to determine how much future success the share price already reflected. Strong company performance alone could not answer that question.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3</a:t>
            </a:r>
          </a:p>
          <a:p>
            <a:endParaRPr dirty="0"/>
          </a:p>
          <a:p>
            <a:r>
              <a:rPr dirty="0"/>
              <a:t>Edition A recorded a watch-and-defer view. The evidence supported further research, but the initial memo did not yet have a verified historical price or a completed valuation range. The research plan called for normalized cash generation, downside analysis and transaction underwriting before committing capital.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14713-6D50-AE88-226E-F5233EAEC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FBBE9-5157-324A-D674-8A188D20C24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33A2319-25EE-7172-DB48-912AD7B88E3D}"/>
              </a:ext>
            </a:extLst>
          </p:cNvPr>
          <p:cNvSpPr>
            <a:spLocks noGrp="1"/>
          </p:cNvSpPr>
          <p:nvPr>
            <p:ph type="body" sz="quarter" idx="3"/>
          </p:nvPr>
        </p:nvSpPr>
        <p:spPr/>
        <p:txBody>
          <a:bodyPr/>
          <a:lstStyle/>
          <a:p>
            <a:r>
              <a:rPr dirty="0"/>
              <a:t>RECORDING NOTES — VIDEO 1, SLIDE 3</a:t>
            </a:r>
          </a:p>
          <a:p>
            <a:endParaRPr dirty="0"/>
          </a:p>
          <a:p>
            <a:r>
              <a:rPr dirty="0"/>
              <a:t>Edition A recorded a watch-and-defer view. The evidence supported further research, but the initial memo did not yet have a verified historical price or a completed valuation range. The research plan called for normalized cash generation, downside analysis and transaction underwriting before committing capital.</a:t>
            </a:r>
          </a:p>
        </p:txBody>
      </p:sp>
      <p:sp>
        <p:nvSpPr>
          <p:cNvPr id="4" name="Slide Number Placeholder 3">
            <a:extLst>
              <a:ext uri="{FF2B5EF4-FFF2-40B4-BE49-F238E27FC236}">
                <a16:creationId xmlns:a16="http://schemas.microsoft.com/office/drawing/2014/main" id="{6B44EE93-ED8A-6F8D-1DF4-FA954E8248AE}"/>
              </a:ext>
            </a:extLst>
          </p:cNvPr>
          <p:cNvSpPr>
            <a:spLocks noGrp="1"/>
          </p:cNvSpPr>
          <p:nvPr>
            <p:ph type="sldNum" sz="quarter" idx="5"/>
          </p:nvPr>
        </p:nvSpPr>
        <p:spPr/>
      </p:sp>
    </p:spTree>
    <p:extLst>
      <p:ext uri="{BB962C8B-B14F-4D97-AF65-F5344CB8AC3E}">
        <p14:creationId xmlns:p14="http://schemas.microsoft.com/office/powerpoint/2010/main" val="737348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4</a:t>
            </a:r>
          </a:p>
          <a:p>
            <a:endParaRPr dirty="0"/>
          </a:p>
          <a:p>
            <a:r>
              <a:rPr dirty="0"/>
              <a:t>The most important company-specific issue was content spending. Netflix invests in programming, records content assets, and recognizes expense over time through amortization. Cash payments also depend on when liabilities are settled.</a:t>
            </a:r>
          </a:p>
          <a:p>
            <a:endParaRPr dirty="0"/>
          </a:p>
          <a:p>
            <a:r>
              <a:rPr dirty="0"/>
              <a:t>That means profit and cash can move differently. To judge investment value, the analysis had to connect growth and operating profit to the cash remaining after content investment. A generic earnings-growth projection would miss that relationship.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5</a:t>
            </a:r>
          </a:p>
          <a:p>
            <a:endParaRPr dirty="0"/>
          </a:p>
          <a:p>
            <a:r>
              <a:rPr dirty="0"/>
              <a:t>Earlier work produced values around $61 per share using different cash-flow approaches. Similar answers could look reassuring, but they did not validate the definitions or assumptions. The revised model connects the operating forecast directly to cash available to lenders and shareholders, then discounts it at the weighted average cost of capital.</a:t>
            </a:r>
          </a:p>
          <a:p>
            <a:endParaRPr dirty="0"/>
          </a:p>
          <a:p>
            <a:r>
              <a:rPr dirty="0"/>
              <a:t>The revision corrected an extra depreciation deduction in the earlier model. It also removed an identified $619 million Brazil charge from recurring forecast costs, while retaining the expected $700 million deposit as a cash outflow. Removing an expense from the recurring base does not remove a cash obligation.</a:t>
            </a:r>
          </a:p>
          <a:p>
            <a:endParaRPr dirty="0"/>
          </a:p>
          <a:p>
            <a:r>
              <a:rPr lang="en-US" dirty="0"/>
              <a:t>The correction regarding the </a:t>
            </a:r>
            <a:r>
              <a:rPr lang="en-US" b="1" u="none" strike="noStrike" dirty="0">
                <a:effectLst/>
                <a:latin typeface="Google Sans"/>
              </a:rPr>
              <a:t>$619 million Brazil charge</a:t>
            </a:r>
            <a:r>
              <a:rPr lang="en-US" dirty="0"/>
              <a:t> most changed my understanding. It highlighted how easily a non-recurring item can distort a long-term forecast if incorrectly left in the recurring cost base, while reminding me that removing an expense doesn't eliminate the actual </a:t>
            </a:r>
            <a:r>
              <a:rPr lang="en-US" b="1" u="none" strike="noStrike" dirty="0">
                <a:effectLst/>
                <a:latin typeface="Google Sans"/>
              </a:rPr>
              <a:t>$700 million cash obligation</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6</a:t>
            </a:r>
          </a:p>
          <a:p>
            <a:endParaRPr dirty="0"/>
          </a:p>
          <a:p>
            <a:r>
              <a:rPr dirty="0"/>
              <a:t>AI assisted the analysis and code revision. One output that required correction was the earlier cash-flow approach: the revised work checked the definition against operating cash flow and financing, rather than accepting a plausible-looking valuation.</a:t>
            </a:r>
          </a:p>
          <a:p>
            <a:endParaRPr dirty="0"/>
          </a:p>
          <a:p>
            <a:r>
              <a:rPr dirty="0"/>
              <a:t>Edition A also records a partner's question about whether growth and margin improvement could persist without excessive content and marketing spending. That question focuses attention on the central risk to the forecast</a:t>
            </a:r>
            <a:r>
              <a:rPr lang="en-US" dirty="0"/>
              <a:t>, the </a:t>
            </a:r>
            <a:r>
              <a:rPr lang="en-US" b="0" u="none" strike="noStrike" dirty="0">
                <a:effectLst/>
                <a:latin typeface="Google Sans"/>
              </a:rPr>
              <a:t>cost of keeping us watching. To see if their growth is hitting a wall, we have to look at how much they are spending versus how much value they are actually getting back.</a:t>
            </a:r>
          </a:p>
          <a:p>
            <a:pPr>
              <a:spcBef>
                <a:spcPts val="900"/>
              </a:spcBef>
              <a:spcAft>
                <a:spcPts val="1200"/>
              </a:spcAft>
            </a:pPr>
            <a:r>
              <a:rPr lang="en-US" b="0" u="none" strike="noStrike" dirty="0">
                <a:effectLst/>
                <a:latin typeface="Google Sans"/>
              </a:rPr>
              <a:t>Right now, Netflix is trapped into spending more and more money on new, expensive ideas like live sports and gaming. To put it in perspective, they are dumping about </a:t>
            </a:r>
            <a:r>
              <a:rPr lang="en-US" b="1" u="none" strike="noStrike" dirty="0">
                <a:effectLst/>
                <a:latin typeface="Google Sans"/>
              </a:rPr>
              <a:t>5% of their budget</a:t>
            </a:r>
            <a:r>
              <a:rPr lang="en-US" b="0" u="none" strike="noStrike" dirty="0">
                <a:effectLst/>
                <a:latin typeface="Google Sans"/>
              </a:rPr>
              <a:t> into these new areas, but only getting </a:t>
            </a:r>
            <a:r>
              <a:rPr lang="en-US" b="1" u="none" strike="noStrike" dirty="0">
                <a:effectLst/>
                <a:latin typeface="Google Sans"/>
              </a:rPr>
              <a:t>1% of their total views</a:t>
            </a:r>
            <a:r>
              <a:rPr lang="en-US" b="0" u="none" strike="noStrike" dirty="0">
                <a:effectLst/>
                <a:latin typeface="Google Sans"/>
              </a:rPr>
              <a:t> in return. That is a really tough return on investment.</a:t>
            </a:r>
          </a:p>
          <a:p>
            <a:pPr>
              <a:spcBef>
                <a:spcPts val="900"/>
              </a:spcBef>
              <a:spcAft>
                <a:spcPts val="1200"/>
              </a:spcAft>
            </a:pPr>
            <a:r>
              <a:rPr lang="en-US" b="0" u="none" strike="noStrike" dirty="0">
                <a:effectLst/>
                <a:latin typeface="Google Sans"/>
              </a:rPr>
              <a:t>The problem is that streaming content loses its flavor fast. Netflix is basically on a treadmill—they have to keep pouring billions into fresh content just to stop people from hitting the cancel button.</a:t>
            </a:r>
          </a:p>
          <a:p>
            <a:pPr>
              <a:spcBef>
                <a:spcPts val="900"/>
              </a:spcBef>
              <a:spcAft>
                <a:spcPts val="1200"/>
              </a:spcAft>
            </a:pPr>
            <a:r>
              <a:rPr lang="en-US" b="0" u="none" strike="noStrike" dirty="0">
                <a:effectLst/>
                <a:latin typeface="Google Sans"/>
              </a:rPr>
              <a:t>If they can’t grow their subscriber base naturally without these massive cash injections, their marketing and production costs will spin out of control. Ultimately, that will crush their goal of a </a:t>
            </a:r>
            <a:r>
              <a:rPr lang="en-US" b="1" u="none" strike="noStrike" dirty="0">
                <a:effectLst/>
                <a:latin typeface="Google Sans"/>
              </a:rPr>
              <a:t>31.5% profit margin</a:t>
            </a:r>
            <a:r>
              <a:rPr lang="en-US" b="0" u="none" strike="noStrike" dirty="0">
                <a:effectLst/>
                <a:latin typeface="Google Sans"/>
              </a:rPr>
              <a:t>, proving that this level of spending isn't sustainable.</a:t>
            </a:r>
          </a:p>
          <a:p>
            <a:endParaRPr lang="en-US" dirty="0"/>
          </a:p>
          <a:p>
            <a:endParaRPr dirty="0"/>
          </a:p>
          <a:p>
            <a:r>
              <a:rPr dirty="0"/>
              <a:t>I also found a timing limitation. The January 23 closing price is a comparison benchmark, and the 10-K was accepted after the market closed. Some financial information had been released earlier, but every material input still needs a dated source before claiming a model available at the close.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RECORDING NOTES — VIDEO 1, SLIDE 7</a:t>
            </a:r>
          </a:p>
          <a:p>
            <a:endParaRPr dirty="0"/>
          </a:p>
          <a:p>
            <a:r>
              <a:rPr dirty="0"/>
              <a:t>The revised operating cases estimate about $42 to $60 per share, with a base of about $51, compared with the $86.12 historical close. That supports continuing to watch the company while deferring initiation on this evidence.</a:t>
            </a:r>
          </a:p>
          <a:p>
            <a:endParaRPr dirty="0"/>
          </a:p>
          <a:p>
            <a:r>
              <a:rPr dirty="0"/>
              <a:t>The research gave me a specific decision to defend: whether supported cash generation justified the price, given the content economics and the transaction excluded from the model. The next video explains how the analysis connects those business questions to valuation.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Why I selected Netflix</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Research question</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01</a:t>
            </a:r>
          </a:p>
        </p:txBody>
      </p:sp>
      <p:sp>
        <p:nvSpPr>
          <p:cNvPr id="10" name="Rounded Rectangle 9"/>
          <p:cNvSpPr/>
          <p:nvPr/>
        </p:nvSpPr>
        <p:spPr>
          <a:xfrm>
            <a:off x="685800" y="2560320"/>
            <a:ext cx="3566160" cy="21945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761488"/>
            <a:ext cx="3145536" cy="274320"/>
          </a:xfrm>
          <a:prstGeom prst="rect">
            <a:avLst/>
          </a:prstGeom>
          <a:noFill/>
        </p:spPr>
        <p:txBody>
          <a:bodyPr wrap="square">
            <a:spAutoFit/>
          </a:bodyPr>
          <a:lstStyle/>
          <a:p>
            <a:pPr>
              <a:spcAft>
                <a:spcPts val="700"/>
              </a:spcAft>
              <a:defRPr sz="1100" b="1">
                <a:solidFill>
                  <a:srgbClr val="4B5767"/>
                </a:solidFill>
                <a:latin typeface="Aptos"/>
              </a:defRPr>
            </a:pPr>
            <a:r>
              <a:t>QUESTION 1</a:t>
            </a:r>
          </a:p>
        </p:txBody>
      </p:sp>
      <p:sp>
        <p:nvSpPr>
          <p:cNvPr id="12" name="TextBox 11"/>
          <p:cNvSpPr txBox="1"/>
          <p:nvPr/>
        </p:nvSpPr>
        <p:spPr>
          <a:xfrm>
            <a:off x="896112" y="3227832"/>
            <a:ext cx="3145536" cy="630936"/>
          </a:xfrm>
          <a:prstGeom prst="rect">
            <a:avLst/>
          </a:prstGeom>
          <a:noFill/>
        </p:spPr>
        <p:txBody>
          <a:bodyPr wrap="square">
            <a:spAutoFit/>
          </a:bodyPr>
          <a:lstStyle/>
          <a:p>
            <a:pPr>
              <a:spcAft>
                <a:spcPts val="700"/>
              </a:spcAft>
              <a:defRPr sz="2900" b="1">
                <a:solidFill>
                  <a:srgbClr val="141B2A"/>
                </a:solidFill>
                <a:latin typeface="Aptos"/>
              </a:defRPr>
            </a:pPr>
            <a:r>
              <a:t>Growth</a:t>
            </a:r>
          </a:p>
        </p:txBody>
      </p:sp>
      <p:sp>
        <p:nvSpPr>
          <p:cNvPr id="13" name="Rounded Rectangle 12"/>
          <p:cNvSpPr/>
          <p:nvPr/>
        </p:nvSpPr>
        <p:spPr>
          <a:xfrm>
            <a:off x="4480560" y="2560320"/>
            <a:ext cx="3566160" cy="21945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0872" y="2761488"/>
            <a:ext cx="3145536" cy="274320"/>
          </a:xfrm>
          <a:prstGeom prst="rect">
            <a:avLst/>
          </a:prstGeom>
          <a:noFill/>
        </p:spPr>
        <p:txBody>
          <a:bodyPr wrap="square">
            <a:spAutoFit/>
          </a:bodyPr>
          <a:lstStyle/>
          <a:p>
            <a:pPr>
              <a:spcAft>
                <a:spcPts val="700"/>
              </a:spcAft>
              <a:defRPr sz="1100" b="1">
                <a:solidFill>
                  <a:srgbClr val="4B5767"/>
                </a:solidFill>
                <a:latin typeface="Aptos"/>
              </a:defRPr>
            </a:pPr>
            <a:r>
              <a:t>QUESTION 2</a:t>
            </a:r>
          </a:p>
        </p:txBody>
      </p:sp>
      <p:sp>
        <p:nvSpPr>
          <p:cNvPr id="15" name="TextBox 14"/>
          <p:cNvSpPr txBox="1"/>
          <p:nvPr/>
        </p:nvSpPr>
        <p:spPr>
          <a:xfrm>
            <a:off x="4690872" y="3227832"/>
            <a:ext cx="3145536" cy="630936"/>
          </a:xfrm>
          <a:prstGeom prst="rect">
            <a:avLst/>
          </a:prstGeom>
          <a:noFill/>
        </p:spPr>
        <p:txBody>
          <a:bodyPr wrap="square">
            <a:spAutoFit/>
          </a:bodyPr>
          <a:lstStyle/>
          <a:p>
            <a:pPr>
              <a:spcAft>
                <a:spcPts val="700"/>
              </a:spcAft>
              <a:defRPr sz="2900" b="1">
                <a:solidFill>
                  <a:srgbClr val="141B2A"/>
                </a:solidFill>
                <a:latin typeface="Aptos"/>
              </a:defRPr>
            </a:pPr>
            <a:r>
              <a:t>Cash generation</a:t>
            </a:r>
          </a:p>
        </p:txBody>
      </p:sp>
      <p:sp>
        <p:nvSpPr>
          <p:cNvPr id="16" name="Rounded Rectangle 15"/>
          <p:cNvSpPr/>
          <p:nvPr/>
        </p:nvSpPr>
        <p:spPr>
          <a:xfrm>
            <a:off x="8275320" y="2560320"/>
            <a:ext cx="3566160" cy="21945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85632" y="2761488"/>
            <a:ext cx="3145536" cy="274320"/>
          </a:xfrm>
          <a:prstGeom prst="rect">
            <a:avLst/>
          </a:prstGeom>
          <a:noFill/>
        </p:spPr>
        <p:txBody>
          <a:bodyPr wrap="square">
            <a:spAutoFit/>
          </a:bodyPr>
          <a:lstStyle/>
          <a:p>
            <a:pPr>
              <a:spcAft>
                <a:spcPts val="700"/>
              </a:spcAft>
              <a:defRPr sz="1100" b="1">
                <a:solidFill>
                  <a:srgbClr val="4B5767"/>
                </a:solidFill>
                <a:latin typeface="Aptos"/>
              </a:defRPr>
            </a:pPr>
            <a:r>
              <a:t>QUESTION 3</a:t>
            </a:r>
          </a:p>
        </p:txBody>
      </p:sp>
      <p:sp>
        <p:nvSpPr>
          <p:cNvPr id="18" name="TextBox 17"/>
          <p:cNvSpPr txBox="1"/>
          <p:nvPr/>
        </p:nvSpPr>
        <p:spPr>
          <a:xfrm>
            <a:off x="8485632" y="3227832"/>
            <a:ext cx="3145536" cy="630936"/>
          </a:xfrm>
          <a:prstGeom prst="rect">
            <a:avLst/>
          </a:prstGeom>
          <a:noFill/>
        </p:spPr>
        <p:txBody>
          <a:bodyPr wrap="square">
            <a:spAutoFit/>
          </a:bodyPr>
          <a:lstStyle/>
          <a:p>
            <a:pPr>
              <a:spcAft>
                <a:spcPts val="700"/>
              </a:spcAft>
              <a:defRPr sz="2900" b="1">
                <a:solidFill>
                  <a:srgbClr val="141B2A"/>
                </a:solidFill>
                <a:latin typeface="Aptos"/>
              </a:defRPr>
            </a:pPr>
            <a:r>
              <a:t>Price paid</a:t>
            </a:r>
          </a:p>
        </p:txBody>
      </p:sp>
      <p:pic>
        <p:nvPicPr>
          <p:cNvPr id="23" name="Audio 22">
            <a:extLst>
              <a:ext uri="{FF2B5EF4-FFF2-40B4-BE49-F238E27FC236}">
                <a16:creationId xmlns:a16="http://schemas.microsoft.com/office/drawing/2014/main" id="{BEE4DB29-18D1-102A-A36C-B04C7A4BE8B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480"/>
    </mc:Choice>
    <mc:Fallback>
      <p:transition spd="slow" advTm="59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The opportunity was worth investigating</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FY2025 operating results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02</a:t>
            </a:r>
          </a:p>
        </p:txBody>
      </p:sp>
      <p:sp>
        <p:nvSpPr>
          <p:cNvPr id="10" name="Rounded Rectangle 9"/>
          <p:cNvSpPr/>
          <p:nvPr/>
        </p:nvSpPr>
        <p:spPr>
          <a:xfrm>
            <a:off x="676656"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REVENUE GROWTH</a:t>
            </a:r>
          </a:p>
        </p:txBody>
      </p:sp>
      <p:sp>
        <p:nvSpPr>
          <p:cNvPr id="12" name="TextBox 11"/>
          <p:cNvSpPr txBox="1"/>
          <p:nvPr/>
        </p:nvSpPr>
        <p:spPr>
          <a:xfrm>
            <a:off x="886968"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16%</a:t>
            </a:r>
          </a:p>
        </p:txBody>
      </p:sp>
      <p:sp>
        <p:nvSpPr>
          <p:cNvPr id="13" name="Rounded Rectangle 12"/>
          <p:cNvSpPr/>
          <p:nvPr/>
        </p:nvSpPr>
        <p:spPr>
          <a:xfrm>
            <a:off x="4498848"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60"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OPERATING-PROFIT GROWTH</a:t>
            </a:r>
          </a:p>
        </p:txBody>
      </p:sp>
      <p:sp>
        <p:nvSpPr>
          <p:cNvPr id="15" name="TextBox 14"/>
          <p:cNvSpPr txBox="1"/>
          <p:nvPr/>
        </p:nvSpPr>
        <p:spPr>
          <a:xfrm>
            <a:off x="4709160"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28%</a:t>
            </a:r>
          </a:p>
        </p:txBody>
      </p:sp>
      <p:sp>
        <p:nvSpPr>
          <p:cNvPr id="16" name="Rounded Rectangle 15"/>
          <p:cNvSpPr/>
          <p:nvPr/>
        </p:nvSpPr>
        <p:spPr>
          <a:xfrm>
            <a:off x="8321040" y="2542032"/>
            <a:ext cx="3575304" cy="24231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1352" y="2743200"/>
            <a:ext cx="3154680" cy="274320"/>
          </a:xfrm>
          <a:prstGeom prst="rect">
            <a:avLst/>
          </a:prstGeom>
          <a:noFill/>
        </p:spPr>
        <p:txBody>
          <a:bodyPr wrap="square">
            <a:spAutoFit/>
          </a:bodyPr>
          <a:lstStyle/>
          <a:p>
            <a:pPr>
              <a:spcAft>
                <a:spcPts val="700"/>
              </a:spcAft>
              <a:defRPr sz="1100" b="1">
                <a:solidFill>
                  <a:srgbClr val="4B5767"/>
                </a:solidFill>
                <a:latin typeface="Aptos"/>
              </a:defRPr>
            </a:pPr>
            <a:r>
              <a:t>QUESTION</a:t>
            </a:r>
          </a:p>
        </p:txBody>
      </p:sp>
      <p:sp>
        <p:nvSpPr>
          <p:cNvPr id="18" name="TextBox 17"/>
          <p:cNvSpPr txBox="1"/>
          <p:nvPr/>
        </p:nvSpPr>
        <p:spPr>
          <a:xfrm>
            <a:off x="8531352" y="3209544"/>
            <a:ext cx="3154680" cy="630936"/>
          </a:xfrm>
          <a:prstGeom prst="rect">
            <a:avLst/>
          </a:prstGeom>
          <a:noFill/>
        </p:spPr>
        <p:txBody>
          <a:bodyPr wrap="square">
            <a:spAutoFit/>
          </a:bodyPr>
          <a:lstStyle/>
          <a:p>
            <a:pPr>
              <a:spcAft>
                <a:spcPts val="700"/>
              </a:spcAft>
              <a:defRPr sz="2900" b="1">
                <a:solidFill>
                  <a:srgbClr val="141B2A"/>
                </a:solidFill>
                <a:latin typeface="Aptos"/>
              </a:defRPr>
            </a:pPr>
            <a:r>
              <a:t>Is value &gt; price?</a:t>
            </a:r>
          </a:p>
        </p:txBody>
      </p:sp>
      <p:pic>
        <p:nvPicPr>
          <p:cNvPr id="21" name="Audio 20">
            <a:extLst>
              <a:ext uri="{FF2B5EF4-FFF2-40B4-BE49-F238E27FC236}">
                <a16:creationId xmlns:a16="http://schemas.microsoft.com/office/drawing/2014/main" id="{06D8FA98-6ED8-5CFF-B1FC-AE002506D46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80"/>
    </mc:Choice>
    <mc:Fallback>
      <p:transition spd="slow" advTm="4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My initial decision was to wait</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Edition A → research plan</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03</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Watch–defer was the initial stance</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Needed a defensible share-price range</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rPr dirty="0"/>
              <a:t>Needed cash-flow and downside evidence</a:t>
            </a:r>
          </a:p>
        </p:txBody>
      </p:sp>
      <p:pic>
        <p:nvPicPr>
          <p:cNvPr id="17" name="Audio 16">
            <a:extLst>
              <a:ext uri="{FF2B5EF4-FFF2-40B4-BE49-F238E27FC236}">
                <a16:creationId xmlns:a16="http://schemas.microsoft.com/office/drawing/2014/main" id="{AE52E71A-82C6-3881-A4B7-DC1DD67931E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360"/>
    </mc:Choice>
    <mc:Fallback>
      <p:transition spd="slow" advTm="20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73C787A-F900-3706-1B3E-AEBE0B208C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01FF2A-4016-7F1A-DB43-5C3D767DD924}"/>
              </a:ext>
            </a:extLst>
          </p:cNvPr>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AAE84C1-2063-73FC-A5BA-834DC3C0427A}"/>
              </a:ext>
            </a:extLst>
          </p:cNvPr>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a:extLst>
              <a:ext uri="{FF2B5EF4-FFF2-40B4-BE49-F238E27FC236}">
                <a16:creationId xmlns:a16="http://schemas.microsoft.com/office/drawing/2014/main" id="{F10F80AE-E658-84FF-018B-C67084EE6A8D}"/>
              </a:ext>
            </a:extLst>
          </p:cNvPr>
          <p:cNvSpPr txBox="1"/>
          <p:nvPr/>
        </p:nvSpPr>
        <p:spPr>
          <a:xfrm>
            <a:off x="530352" y="768096"/>
            <a:ext cx="10881360" cy="553998"/>
          </a:xfrm>
          <a:prstGeom prst="rect">
            <a:avLst/>
          </a:prstGeom>
          <a:noFill/>
        </p:spPr>
        <p:txBody>
          <a:bodyPr wrap="square">
            <a:spAutoFit/>
          </a:bodyPr>
          <a:lstStyle/>
          <a:p>
            <a:pPr>
              <a:spcAft>
                <a:spcPts val="700"/>
              </a:spcAft>
              <a:defRPr sz="3000" b="1">
                <a:solidFill>
                  <a:srgbClr val="141B2A"/>
                </a:solidFill>
                <a:latin typeface="Aptos"/>
              </a:defRPr>
            </a:pPr>
            <a:r>
              <a:rPr lang="en-US" dirty="0"/>
              <a:t>Unchanged Edition A</a:t>
            </a:r>
            <a:endParaRPr dirty="0"/>
          </a:p>
        </p:txBody>
      </p:sp>
      <p:sp>
        <p:nvSpPr>
          <p:cNvPr id="5" name="Rectangle 4">
            <a:extLst>
              <a:ext uri="{FF2B5EF4-FFF2-40B4-BE49-F238E27FC236}">
                <a16:creationId xmlns:a16="http://schemas.microsoft.com/office/drawing/2014/main" id="{FA70DA78-A9A4-2DD4-1F0F-CE22CB6E11A1}"/>
              </a:ext>
            </a:extLst>
          </p:cNvPr>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45A7D57-1BE3-E1C7-39BB-71BA65F17C44}"/>
              </a:ext>
            </a:extLst>
          </p:cNvPr>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Edition A → research plan</a:t>
            </a:r>
          </a:p>
        </p:txBody>
      </p:sp>
      <p:sp>
        <p:nvSpPr>
          <p:cNvPr id="7" name="Rectangle 6">
            <a:extLst>
              <a:ext uri="{FF2B5EF4-FFF2-40B4-BE49-F238E27FC236}">
                <a16:creationId xmlns:a16="http://schemas.microsoft.com/office/drawing/2014/main" id="{6C311B7D-7E5C-F688-587B-224521A362D4}"/>
              </a:ext>
            </a:extLst>
          </p:cNvPr>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243A6A15-FE0D-1389-591F-8515A9191FC1}"/>
              </a:ext>
            </a:extLst>
          </p:cNvPr>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a:extLst>
              <a:ext uri="{FF2B5EF4-FFF2-40B4-BE49-F238E27FC236}">
                <a16:creationId xmlns:a16="http://schemas.microsoft.com/office/drawing/2014/main" id="{28F7747D-847E-F4DB-1C66-EA3FB041ACA8}"/>
              </a:ext>
            </a:extLst>
          </p:cNvPr>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03</a:t>
            </a:r>
          </a:p>
        </p:txBody>
      </p:sp>
      <p:pic>
        <p:nvPicPr>
          <p:cNvPr id="17" name="Picture 16" descr="A screenshot of a video game&#10;&#10;AI-generated content may be incorrect.">
            <a:extLst>
              <a:ext uri="{FF2B5EF4-FFF2-40B4-BE49-F238E27FC236}">
                <a16:creationId xmlns:a16="http://schemas.microsoft.com/office/drawing/2014/main" id="{0EA08850-E861-DB19-D4BD-73FB1FE07E0F}"/>
              </a:ext>
            </a:extLst>
          </p:cNvPr>
          <p:cNvPicPr>
            <a:picLocks noChangeAspect="1"/>
          </p:cNvPicPr>
          <p:nvPr/>
        </p:nvPicPr>
        <p:blipFill>
          <a:blip r:embed="rId5"/>
          <a:stretch>
            <a:fillRect/>
          </a:stretch>
        </p:blipFill>
        <p:spPr>
          <a:xfrm>
            <a:off x="2269826" y="2340864"/>
            <a:ext cx="6625171" cy="2816689"/>
          </a:xfrm>
          <a:prstGeom prst="rect">
            <a:avLst/>
          </a:prstGeom>
        </p:spPr>
      </p:pic>
      <p:sp>
        <p:nvSpPr>
          <p:cNvPr id="20" name="TextBox 19">
            <a:extLst>
              <a:ext uri="{FF2B5EF4-FFF2-40B4-BE49-F238E27FC236}">
                <a16:creationId xmlns:a16="http://schemas.microsoft.com/office/drawing/2014/main" id="{4A94F551-983E-95BD-0F01-5B2136DC44EF}"/>
              </a:ext>
            </a:extLst>
          </p:cNvPr>
          <p:cNvSpPr txBox="1"/>
          <p:nvPr/>
        </p:nvSpPr>
        <p:spPr>
          <a:xfrm>
            <a:off x="674325" y="5294713"/>
            <a:ext cx="10149840" cy="384721"/>
          </a:xfrm>
          <a:prstGeom prst="rect">
            <a:avLst/>
          </a:prstGeom>
          <a:noFill/>
        </p:spPr>
        <p:txBody>
          <a:bodyPr wrap="square">
            <a:spAutoFit/>
          </a:bodyPr>
          <a:lstStyle/>
          <a:p>
            <a:pPr>
              <a:spcAft>
                <a:spcPts val="700"/>
              </a:spcAft>
              <a:defRPr sz="1900" b="0">
                <a:solidFill>
                  <a:srgbClr val="141B2A"/>
                </a:solidFill>
                <a:latin typeface="Aptos"/>
              </a:defRPr>
            </a:pPr>
            <a:r>
              <a:rPr lang="en-US" dirty="0"/>
              <a:t>Screenshot from Markdown file. See GitHub repository for full information.</a:t>
            </a:r>
            <a:endParaRPr dirty="0"/>
          </a:p>
        </p:txBody>
      </p:sp>
      <p:pic>
        <p:nvPicPr>
          <p:cNvPr id="22" name="Audio 21">
            <a:extLst>
              <a:ext uri="{FF2B5EF4-FFF2-40B4-BE49-F238E27FC236}">
                <a16:creationId xmlns:a16="http://schemas.microsoft.com/office/drawing/2014/main" id="{11C8D34A-F0D2-9173-610F-24090F9E700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271440530"/>
      </p:ext>
    </p:extLst>
  </p:cSld>
  <p:clrMapOvr>
    <a:masterClrMapping/>
  </p:clrMapOvr>
  <mc:AlternateContent xmlns:mc="http://schemas.openxmlformats.org/markup-compatibility/2006">
    <mc:Choice xmlns:p14="http://schemas.microsoft.com/office/powerpoint/2010/main" Requires="p14">
      <p:transition spd="slow" p14:dur="2000" advTm="11640"/>
    </mc:Choice>
    <mc:Fallback>
      <p:transition spd="slow" advTm="11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Content spending changes the story</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Three connected financial measures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04</a:t>
            </a:r>
          </a:p>
        </p:txBody>
      </p:sp>
      <p:sp>
        <p:nvSpPr>
          <p:cNvPr id="10" name="Rounded Rectangle 9"/>
          <p:cNvSpPr/>
          <p:nvPr/>
        </p:nvSpPr>
        <p:spPr>
          <a:xfrm>
            <a:off x="640080" y="2816352"/>
            <a:ext cx="3380231"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0392" y="3017520"/>
            <a:ext cx="2959607" cy="274320"/>
          </a:xfrm>
          <a:prstGeom prst="rect">
            <a:avLst/>
          </a:prstGeom>
          <a:noFill/>
        </p:spPr>
        <p:txBody>
          <a:bodyPr wrap="square">
            <a:spAutoFit/>
          </a:bodyPr>
          <a:lstStyle/>
          <a:p>
            <a:pPr>
              <a:spcAft>
                <a:spcPts val="700"/>
              </a:spcAft>
              <a:defRPr sz="1100" b="1">
                <a:solidFill>
                  <a:srgbClr val="4B5767"/>
                </a:solidFill>
                <a:latin typeface="Aptos"/>
              </a:defRPr>
            </a:pPr>
            <a:r>
              <a:t>STEP 1</a:t>
            </a:r>
          </a:p>
        </p:txBody>
      </p:sp>
      <p:sp>
        <p:nvSpPr>
          <p:cNvPr id="12" name="TextBox 11"/>
          <p:cNvSpPr txBox="1"/>
          <p:nvPr/>
        </p:nvSpPr>
        <p:spPr>
          <a:xfrm>
            <a:off x="850392" y="3483864"/>
            <a:ext cx="2959607" cy="630936"/>
          </a:xfrm>
          <a:prstGeom prst="rect">
            <a:avLst/>
          </a:prstGeom>
          <a:noFill/>
        </p:spPr>
        <p:txBody>
          <a:bodyPr wrap="square">
            <a:spAutoFit/>
          </a:bodyPr>
          <a:lstStyle/>
          <a:p>
            <a:pPr>
              <a:spcAft>
                <a:spcPts val="700"/>
              </a:spcAft>
              <a:defRPr sz="2900" b="1">
                <a:solidFill>
                  <a:srgbClr val="141B2A"/>
                </a:solidFill>
                <a:latin typeface="Aptos"/>
              </a:defRPr>
            </a:pPr>
            <a:r>
              <a:t>Additions</a:t>
            </a:r>
          </a:p>
        </p:txBody>
      </p:sp>
      <p:sp>
        <p:nvSpPr>
          <p:cNvPr id="13" name="TextBox 12"/>
          <p:cNvSpPr txBox="1"/>
          <p:nvPr/>
        </p:nvSpPr>
        <p:spPr>
          <a:xfrm>
            <a:off x="4070603" y="3383280"/>
            <a:ext cx="182880" cy="457200"/>
          </a:xfrm>
          <a:prstGeom prst="rect">
            <a:avLst/>
          </a:prstGeom>
          <a:noFill/>
        </p:spPr>
        <p:txBody>
          <a:bodyPr wrap="square">
            <a:spAutoFit/>
          </a:bodyPr>
          <a:lstStyle/>
          <a:p>
            <a:pPr>
              <a:spcAft>
                <a:spcPts val="700"/>
              </a:spcAft>
              <a:defRPr sz="2500" b="1">
                <a:solidFill>
                  <a:srgbClr val="CD182B"/>
                </a:solidFill>
                <a:latin typeface="Aptos"/>
              </a:defRPr>
            </a:pPr>
            <a:r>
              <a:t>›</a:t>
            </a:r>
          </a:p>
        </p:txBody>
      </p:sp>
      <p:sp>
        <p:nvSpPr>
          <p:cNvPr id="14" name="Rounded Rectangle 13"/>
          <p:cNvSpPr/>
          <p:nvPr/>
        </p:nvSpPr>
        <p:spPr>
          <a:xfrm>
            <a:off x="4221480" y="2816352"/>
            <a:ext cx="3380231"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1792" y="3017520"/>
            <a:ext cx="2959607" cy="274320"/>
          </a:xfrm>
          <a:prstGeom prst="rect">
            <a:avLst/>
          </a:prstGeom>
          <a:noFill/>
        </p:spPr>
        <p:txBody>
          <a:bodyPr wrap="square">
            <a:spAutoFit/>
          </a:bodyPr>
          <a:lstStyle/>
          <a:p>
            <a:pPr>
              <a:spcAft>
                <a:spcPts val="700"/>
              </a:spcAft>
              <a:defRPr sz="1100" b="1">
                <a:solidFill>
                  <a:srgbClr val="4B5767"/>
                </a:solidFill>
                <a:latin typeface="Aptos"/>
              </a:defRPr>
            </a:pPr>
            <a:r>
              <a:t>STEP 2</a:t>
            </a:r>
          </a:p>
        </p:txBody>
      </p:sp>
      <p:sp>
        <p:nvSpPr>
          <p:cNvPr id="16" name="TextBox 15"/>
          <p:cNvSpPr txBox="1"/>
          <p:nvPr/>
        </p:nvSpPr>
        <p:spPr>
          <a:xfrm>
            <a:off x="4431792" y="3483864"/>
            <a:ext cx="2959607" cy="630936"/>
          </a:xfrm>
          <a:prstGeom prst="rect">
            <a:avLst/>
          </a:prstGeom>
          <a:noFill/>
        </p:spPr>
        <p:txBody>
          <a:bodyPr wrap="square">
            <a:spAutoFit/>
          </a:bodyPr>
          <a:lstStyle/>
          <a:p>
            <a:pPr>
              <a:spcAft>
                <a:spcPts val="700"/>
              </a:spcAft>
              <a:defRPr sz="2900" b="1">
                <a:solidFill>
                  <a:srgbClr val="141B2A"/>
                </a:solidFill>
                <a:latin typeface="Aptos"/>
              </a:defRPr>
            </a:pPr>
            <a:r>
              <a:t>Amortization</a:t>
            </a:r>
          </a:p>
        </p:txBody>
      </p:sp>
      <p:sp>
        <p:nvSpPr>
          <p:cNvPr id="17" name="TextBox 16"/>
          <p:cNvSpPr txBox="1"/>
          <p:nvPr/>
        </p:nvSpPr>
        <p:spPr>
          <a:xfrm>
            <a:off x="7652003" y="3383280"/>
            <a:ext cx="182880" cy="457200"/>
          </a:xfrm>
          <a:prstGeom prst="rect">
            <a:avLst/>
          </a:prstGeom>
          <a:noFill/>
        </p:spPr>
        <p:txBody>
          <a:bodyPr wrap="square">
            <a:spAutoFit/>
          </a:bodyPr>
          <a:lstStyle/>
          <a:p>
            <a:pPr>
              <a:spcAft>
                <a:spcPts val="700"/>
              </a:spcAft>
              <a:defRPr sz="2500" b="1">
                <a:solidFill>
                  <a:srgbClr val="CD182B"/>
                </a:solidFill>
                <a:latin typeface="Aptos"/>
              </a:defRPr>
            </a:pPr>
            <a:r>
              <a:t>›</a:t>
            </a:r>
          </a:p>
        </p:txBody>
      </p:sp>
      <p:sp>
        <p:nvSpPr>
          <p:cNvPr id="18" name="Rounded Rectangle 17"/>
          <p:cNvSpPr/>
          <p:nvPr/>
        </p:nvSpPr>
        <p:spPr>
          <a:xfrm>
            <a:off x="7802880" y="2816352"/>
            <a:ext cx="3380231" cy="1737360"/>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13192" y="3017520"/>
            <a:ext cx="2959607" cy="274320"/>
          </a:xfrm>
          <a:prstGeom prst="rect">
            <a:avLst/>
          </a:prstGeom>
          <a:noFill/>
        </p:spPr>
        <p:txBody>
          <a:bodyPr wrap="square">
            <a:spAutoFit/>
          </a:bodyPr>
          <a:lstStyle/>
          <a:p>
            <a:pPr>
              <a:spcAft>
                <a:spcPts val="700"/>
              </a:spcAft>
              <a:defRPr sz="1100" b="1">
                <a:solidFill>
                  <a:srgbClr val="4B5767"/>
                </a:solidFill>
                <a:latin typeface="Aptos"/>
              </a:defRPr>
            </a:pPr>
            <a:r>
              <a:t>STEP 3</a:t>
            </a:r>
          </a:p>
        </p:txBody>
      </p:sp>
      <p:sp>
        <p:nvSpPr>
          <p:cNvPr id="20" name="TextBox 19"/>
          <p:cNvSpPr txBox="1"/>
          <p:nvPr/>
        </p:nvSpPr>
        <p:spPr>
          <a:xfrm>
            <a:off x="8013192" y="3483864"/>
            <a:ext cx="2959607" cy="630936"/>
          </a:xfrm>
          <a:prstGeom prst="rect">
            <a:avLst/>
          </a:prstGeom>
          <a:noFill/>
        </p:spPr>
        <p:txBody>
          <a:bodyPr wrap="square">
            <a:spAutoFit/>
          </a:bodyPr>
          <a:lstStyle/>
          <a:p>
            <a:pPr>
              <a:spcAft>
                <a:spcPts val="700"/>
              </a:spcAft>
              <a:defRPr sz="2900" b="1">
                <a:solidFill>
                  <a:srgbClr val="141B2A"/>
                </a:solidFill>
                <a:latin typeface="Aptos"/>
              </a:defRPr>
            </a:pPr>
            <a:r>
              <a:t>Cash payments</a:t>
            </a:r>
          </a:p>
        </p:txBody>
      </p:sp>
      <p:pic>
        <p:nvPicPr>
          <p:cNvPr id="22" name="Audio 21">
            <a:extLst>
              <a:ext uri="{FF2B5EF4-FFF2-40B4-BE49-F238E27FC236}">
                <a16:creationId xmlns:a16="http://schemas.microsoft.com/office/drawing/2014/main" id="{857A0012-6AD5-21C2-7977-60290FF9EF8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880"/>
    </mc:Choice>
    <mc:Fallback>
      <p:transition spd="slow" advTm="33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Research changed the valuation model</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From plausible numbers to linked cash flow</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05</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Linked operating forecasts to FCFF</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740664"/>
          </a:xfrm>
          <a:prstGeom prst="rect">
            <a:avLst/>
          </a:prstGeom>
          <a:noFill/>
        </p:spPr>
        <p:txBody>
          <a:bodyPr wrap="square">
            <a:spAutoFit/>
          </a:bodyPr>
          <a:lstStyle/>
          <a:p>
            <a:pPr>
              <a:spcAft>
                <a:spcPts val="700"/>
              </a:spcAft>
              <a:defRPr sz="1900" b="0">
                <a:solidFill>
                  <a:srgbClr val="141B2A"/>
                </a:solidFill>
                <a:latin typeface="Aptos"/>
              </a:defRPr>
            </a:pPr>
            <a:r>
              <a:t>Corrected duplicate depreciation treatment</a:t>
            </a:r>
          </a:p>
        </p:txBody>
      </p:sp>
      <p:sp>
        <p:nvSpPr>
          <p:cNvPr id="14" name="Rectangle 13"/>
          <p:cNvSpPr/>
          <p:nvPr/>
        </p:nvSpPr>
        <p:spPr>
          <a:xfrm>
            <a:off x="731520" y="411480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4984" y="4023360"/>
            <a:ext cx="10149840" cy="740664"/>
          </a:xfrm>
          <a:prstGeom prst="rect">
            <a:avLst/>
          </a:prstGeom>
          <a:noFill/>
        </p:spPr>
        <p:txBody>
          <a:bodyPr wrap="square">
            <a:spAutoFit/>
          </a:bodyPr>
          <a:lstStyle/>
          <a:p>
            <a:pPr>
              <a:spcAft>
                <a:spcPts val="700"/>
              </a:spcAft>
              <a:defRPr sz="1900" b="0">
                <a:solidFill>
                  <a:srgbClr val="141B2A"/>
                </a:solidFill>
                <a:latin typeface="Aptos"/>
              </a:defRPr>
            </a:pPr>
            <a:r>
              <a:t>Separated $619m Brazil charge from $700m expected cash deposit</a:t>
            </a:r>
          </a:p>
        </p:txBody>
      </p:sp>
      <p:pic>
        <p:nvPicPr>
          <p:cNvPr id="17" name="Audio 16">
            <a:extLst>
              <a:ext uri="{FF2B5EF4-FFF2-40B4-BE49-F238E27FC236}">
                <a16:creationId xmlns:a16="http://schemas.microsoft.com/office/drawing/2014/main" id="{88108BDB-A4AF-60A4-B7EF-0DCBE753981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460"/>
    </mc:Choice>
    <mc:Fallback>
      <p:transition spd="slow" advTm="63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Challenges made the evidence stronger</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What still needs judgment</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06</a:t>
            </a:r>
          </a:p>
        </p:txBody>
      </p:sp>
      <p:sp>
        <p:nvSpPr>
          <p:cNvPr id="10" name="Rectangle 9"/>
          <p:cNvSpPr/>
          <p:nvPr/>
        </p:nvSpPr>
        <p:spPr>
          <a:xfrm>
            <a:off x="731520" y="256032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4984" y="2468880"/>
            <a:ext cx="10149840" cy="740664"/>
          </a:xfrm>
          <a:prstGeom prst="rect">
            <a:avLst/>
          </a:prstGeom>
          <a:noFill/>
        </p:spPr>
        <p:txBody>
          <a:bodyPr wrap="square">
            <a:spAutoFit/>
          </a:bodyPr>
          <a:lstStyle/>
          <a:p>
            <a:pPr>
              <a:spcAft>
                <a:spcPts val="700"/>
              </a:spcAft>
              <a:defRPr sz="1900" b="0">
                <a:solidFill>
                  <a:srgbClr val="141B2A"/>
                </a:solidFill>
                <a:latin typeface="Aptos"/>
              </a:defRPr>
            </a:pPr>
            <a:r>
              <a:t>AI-assisted conclusions require independent checks</a:t>
            </a:r>
          </a:p>
        </p:txBody>
      </p:sp>
      <p:sp>
        <p:nvSpPr>
          <p:cNvPr id="12" name="Rectangle 11"/>
          <p:cNvSpPr/>
          <p:nvPr/>
        </p:nvSpPr>
        <p:spPr>
          <a:xfrm>
            <a:off x="731520" y="3337560"/>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3246120"/>
            <a:ext cx="10149840" cy="1613262"/>
          </a:xfrm>
          <a:prstGeom prst="rect">
            <a:avLst/>
          </a:prstGeom>
          <a:noFill/>
        </p:spPr>
        <p:txBody>
          <a:bodyPr wrap="square">
            <a:spAutoFit/>
          </a:bodyPr>
          <a:lstStyle/>
          <a:p>
            <a:pPr>
              <a:spcAft>
                <a:spcPts val="700"/>
              </a:spcAft>
              <a:defRPr sz="1900" b="0">
                <a:solidFill>
                  <a:srgbClr val="141B2A"/>
                </a:solidFill>
                <a:latin typeface="Aptos"/>
              </a:defRPr>
            </a:pPr>
            <a:r>
              <a:rPr dirty="0"/>
              <a:t>Partner challenge must be supported by a genuine credited exchange</a:t>
            </a:r>
            <a:endParaRPr lang="en-US" dirty="0"/>
          </a:p>
          <a:p>
            <a:r>
              <a:rPr lang="en-US" sz="1900" dirty="0">
                <a:latin typeface="Aptos" panose="020B0004020202020204" pitchFamily="34" charset="0"/>
              </a:rPr>
              <a:t>	</a:t>
            </a:r>
            <a:r>
              <a:rPr lang="en-US" sz="1900" dirty="0">
                <a:effectLst/>
                <a:latin typeface="Aptos" panose="020B0004020202020204" pitchFamily="34" charset="0"/>
              </a:rPr>
              <a:t>What evidence would show that Netflix's revenue growth and margin expansion cannot persist without unsustainably increasing content and marketing spending?</a:t>
            </a:r>
          </a:p>
          <a:p>
            <a:br>
              <a:rPr lang="en-US" dirty="0"/>
            </a:br>
            <a:endParaRPr dirty="0"/>
          </a:p>
        </p:txBody>
      </p:sp>
      <p:sp>
        <p:nvSpPr>
          <p:cNvPr id="14" name="Rectangle 13"/>
          <p:cNvSpPr/>
          <p:nvPr/>
        </p:nvSpPr>
        <p:spPr>
          <a:xfrm>
            <a:off x="763793" y="4384548"/>
            <a:ext cx="86868" cy="86868"/>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6141" y="4242816"/>
            <a:ext cx="10149840" cy="740664"/>
          </a:xfrm>
          <a:prstGeom prst="rect">
            <a:avLst/>
          </a:prstGeom>
          <a:noFill/>
        </p:spPr>
        <p:txBody>
          <a:bodyPr wrap="square">
            <a:spAutoFit/>
          </a:bodyPr>
          <a:lstStyle/>
          <a:p>
            <a:pPr>
              <a:spcAft>
                <a:spcPts val="700"/>
              </a:spcAft>
              <a:defRPr sz="1900" b="0">
                <a:solidFill>
                  <a:srgbClr val="141B2A"/>
                </a:solidFill>
                <a:latin typeface="Aptos"/>
              </a:defRPr>
            </a:pPr>
            <a:r>
              <a:rPr dirty="0"/>
              <a:t>January 23 filing timing requires disclosure</a:t>
            </a:r>
          </a:p>
        </p:txBody>
      </p:sp>
      <p:pic>
        <p:nvPicPr>
          <p:cNvPr id="17" name="Audio 16">
            <a:extLst>
              <a:ext uri="{FF2B5EF4-FFF2-40B4-BE49-F238E27FC236}">
                <a16:creationId xmlns:a16="http://schemas.microsoft.com/office/drawing/2014/main" id="{979719D7-DE81-6F05-D7D2-426510E87E0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9060"/>
    </mc:Choice>
    <mc:Fallback>
      <p:transition spd="slow" advTm="79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83464"/>
            <a:ext cx="9144000" cy="301752"/>
          </a:xfrm>
          <a:prstGeom prst="rect">
            <a:avLst/>
          </a:prstGeom>
          <a:noFill/>
        </p:spPr>
        <p:txBody>
          <a:bodyPr wrap="square">
            <a:spAutoFit/>
          </a:bodyPr>
          <a:lstStyle/>
          <a:p>
            <a:pPr>
              <a:spcAft>
                <a:spcPts val="700"/>
              </a:spcAft>
              <a:defRPr sz="1000" b="1">
                <a:solidFill>
                  <a:srgbClr val="4B5767"/>
                </a:solidFill>
                <a:latin typeface="Aptos"/>
              </a:defRPr>
            </a:pPr>
            <a:r>
              <a:t>FIN 439  /  NETFLIX  /  VIDEO 1</a:t>
            </a:r>
          </a:p>
        </p:txBody>
      </p:sp>
      <p:sp>
        <p:nvSpPr>
          <p:cNvPr id="4" name="TextBox 3"/>
          <p:cNvSpPr txBox="1"/>
          <p:nvPr/>
        </p:nvSpPr>
        <p:spPr>
          <a:xfrm>
            <a:off x="530352" y="768096"/>
            <a:ext cx="10881360" cy="822960"/>
          </a:xfrm>
          <a:prstGeom prst="rect">
            <a:avLst/>
          </a:prstGeom>
          <a:noFill/>
        </p:spPr>
        <p:txBody>
          <a:bodyPr wrap="square">
            <a:spAutoFit/>
          </a:bodyPr>
          <a:lstStyle/>
          <a:p>
            <a:pPr>
              <a:spcAft>
                <a:spcPts val="700"/>
              </a:spcAft>
              <a:defRPr sz="3000" b="1">
                <a:solidFill>
                  <a:srgbClr val="141B2A"/>
                </a:solidFill>
                <a:latin typeface="Aptos"/>
              </a:defRPr>
            </a:pPr>
            <a:r>
              <a:t>From a company story to a decision</a:t>
            </a:r>
          </a:p>
        </p:txBody>
      </p:sp>
      <p:sp>
        <p:nvSpPr>
          <p:cNvPr id="5" name="Rectangle 4"/>
          <p:cNvSpPr/>
          <p:nvPr/>
        </p:nvSpPr>
        <p:spPr>
          <a:xfrm>
            <a:off x="530352" y="1627632"/>
            <a:ext cx="1051560" cy="54864"/>
          </a:xfrm>
          <a:prstGeom prst="rect">
            <a:avLst/>
          </a:prstGeom>
          <a:solidFill>
            <a:srgbClr val="CD18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0352" y="1819656"/>
            <a:ext cx="10789920" cy="384048"/>
          </a:xfrm>
          <a:prstGeom prst="rect">
            <a:avLst/>
          </a:prstGeom>
          <a:noFill/>
        </p:spPr>
        <p:txBody>
          <a:bodyPr wrap="square">
            <a:spAutoFit/>
          </a:bodyPr>
          <a:lstStyle/>
          <a:p>
            <a:pPr>
              <a:spcAft>
                <a:spcPts val="700"/>
              </a:spcAft>
              <a:defRPr sz="1300" b="0">
                <a:solidFill>
                  <a:srgbClr val="4B5767"/>
                </a:solidFill>
                <a:latin typeface="Aptos"/>
              </a:defRPr>
            </a:pPr>
            <a:r>
              <a:t>Historical standalone estimates</a:t>
            </a:r>
          </a:p>
        </p:txBody>
      </p:sp>
      <p:sp>
        <p:nvSpPr>
          <p:cNvPr id="7" name="Rectangle 6"/>
          <p:cNvSpPr/>
          <p:nvPr/>
        </p:nvSpPr>
        <p:spPr>
          <a:xfrm>
            <a:off x="530352" y="6446520"/>
            <a:ext cx="11109960" cy="11887"/>
          </a:xfrm>
          <a:prstGeom prst="rect">
            <a:avLst/>
          </a:prstGeom>
          <a:solidFill>
            <a:srgbClr val="DEE2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0528"/>
            <a:ext cx="7315200" cy="173736"/>
          </a:xfrm>
          <a:prstGeom prst="rect">
            <a:avLst/>
          </a:prstGeom>
          <a:noFill/>
        </p:spPr>
        <p:txBody>
          <a:bodyPr wrap="square">
            <a:spAutoFit/>
          </a:bodyPr>
          <a:lstStyle/>
          <a:p>
            <a:pPr>
              <a:spcAft>
                <a:spcPts val="700"/>
              </a:spcAft>
              <a:defRPr sz="900" b="0">
                <a:solidFill>
                  <a:srgbClr val="4B5767"/>
                </a:solidFill>
                <a:latin typeface="Aptos"/>
              </a:defRPr>
            </a:pPr>
            <a:r>
              <a:t>Historical analysis • January 23, 2026 reference close • WBD excluded</a:t>
            </a:r>
          </a:p>
        </p:txBody>
      </p:sp>
      <p:sp>
        <p:nvSpPr>
          <p:cNvPr id="9" name="TextBox 8"/>
          <p:cNvSpPr txBox="1"/>
          <p:nvPr/>
        </p:nvSpPr>
        <p:spPr>
          <a:xfrm>
            <a:off x="11018520" y="6492240"/>
            <a:ext cx="548640" cy="201168"/>
          </a:xfrm>
          <a:prstGeom prst="rect">
            <a:avLst/>
          </a:prstGeom>
          <a:noFill/>
        </p:spPr>
        <p:txBody>
          <a:bodyPr wrap="square">
            <a:spAutoFit/>
          </a:bodyPr>
          <a:lstStyle/>
          <a:p>
            <a:pPr algn="r">
              <a:spcAft>
                <a:spcPts val="700"/>
              </a:spcAft>
              <a:defRPr sz="1000" b="1">
                <a:solidFill>
                  <a:srgbClr val="4B5767"/>
                </a:solidFill>
                <a:latin typeface="Aptos"/>
              </a:defRPr>
            </a:pPr>
            <a:r>
              <a:t>07</a:t>
            </a:r>
          </a:p>
        </p:txBody>
      </p:sp>
      <p:sp>
        <p:nvSpPr>
          <p:cNvPr id="10" name="Rounded Rectangle 9"/>
          <p:cNvSpPr/>
          <p:nvPr/>
        </p:nvSpPr>
        <p:spPr>
          <a:xfrm>
            <a:off x="6583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LOW</a:t>
            </a:r>
          </a:p>
        </p:txBody>
      </p:sp>
      <p:sp>
        <p:nvSpPr>
          <p:cNvPr id="12" name="TextBox 11"/>
          <p:cNvSpPr txBox="1"/>
          <p:nvPr/>
        </p:nvSpPr>
        <p:spPr>
          <a:xfrm>
            <a:off x="841247"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$42.13</a:t>
            </a:r>
          </a:p>
        </p:txBody>
      </p:sp>
      <p:sp>
        <p:nvSpPr>
          <p:cNvPr id="13" name="Rounded Rectangle 12"/>
          <p:cNvSpPr/>
          <p:nvPr/>
        </p:nvSpPr>
        <p:spPr>
          <a:xfrm>
            <a:off x="34015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BASE</a:t>
            </a:r>
          </a:p>
        </p:txBody>
      </p:sp>
      <p:sp>
        <p:nvSpPr>
          <p:cNvPr id="15" name="TextBox 14"/>
          <p:cNvSpPr txBox="1"/>
          <p:nvPr/>
        </p:nvSpPr>
        <p:spPr>
          <a:xfrm>
            <a:off x="3584448"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$51.20</a:t>
            </a:r>
          </a:p>
        </p:txBody>
      </p:sp>
      <p:sp>
        <p:nvSpPr>
          <p:cNvPr id="16" name="Rounded Rectangle 15"/>
          <p:cNvSpPr/>
          <p:nvPr/>
        </p:nvSpPr>
        <p:spPr>
          <a:xfrm>
            <a:off x="6144768" y="2651760"/>
            <a:ext cx="2587752" cy="2157984"/>
          </a:xfrm>
          <a:prstGeom prst="round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2999232"/>
            <a:ext cx="2240280" cy="310896"/>
          </a:xfrm>
          <a:prstGeom prst="rect">
            <a:avLst/>
          </a:prstGeom>
          <a:noFill/>
        </p:spPr>
        <p:txBody>
          <a:bodyPr wrap="square">
            <a:spAutoFit/>
          </a:bodyPr>
          <a:lstStyle/>
          <a:p>
            <a:pPr>
              <a:spcAft>
                <a:spcPts val="700"/>
              </a:spcAft>
              <a:defRPr sz="1200" b="1">
                <a:solidFill>
                  <a:srgbClr val="141B2A"/>
                </a:solidFill>
                <a:latin typeface="Aptos"/>
              </a:defRPr>
            </a:pPr>
            <a:r>
              <a:t>HIGH</a:t>
            </a:r>
          </a:p>
        </p:txBody>
      </p:sp>
      <p:sp>
        <p:nvSpPr>
          <p:cNvPr id="18" name="TextBox 17"/>
          <p:cNvSpPr txBox="1"/>
          <p:nvPr/>
        </p:nvSpPr>
        <p:spPr>
          <a:xfrm>
            <a:off x="6327648" y="3721608"/>
            <a:ext cx="2350008" cy="658368"/>
          </a:xfrm>
          <a:prstGeom prst="rect">
            <a:avLst/>
          </a:prstGeom>
          <a:noFill/>
        </p:spPr>
        <p:txBody>
          <a:bodyPr wrap="square">
            <a:spAutoFit/>
          </a:bodyPr>
          <a:lstStyle/>
          <a:p>
            <a:pPr>
              <a:spcAft>
                <a:spcPts val="700"/>
              </a:spcAft>
              <a:defRPr sz="2800" b="1">
                <a:solidFill>
                  <a:srgbClr val="141B2A"/>
                </a:solidFill>
                <a:latin typeface="Aptos"/>
              </a:defRPr>
            </a:pPr>
            <a:r>
              <a:t>$60.33</a:t>
            </a:r>
          </a:p>
        </p:txBody>
      </p:sp>
      <p:sp>
        <p:nvSpPr>
          <p:cNvPr id="19" name="Rounded Rectangle 18"/>
          <p:cNvSpPr/>
          <p:nvPr/>
        </p:nvSpPr>
        <p:spPr>
          <a:xfrm>
            <a:off x="8887968" y="2651760"/>
            <a:ext cx="2587752" cy="2157984"/>
          </a:xfrm>
          <a:prstGeom prst="roundRect">
            <a:avLst/>
          </a:prstGeom>
          <a:solidFill>
            <a:srgbClr val="14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70848" y="2999232"/>
            <a:ext cx="2240280" cy="310896"/>
          </a:xfrm>
          <a:prstGeom prst="rect">
            <a:avLst/>
          </a:prstGeom>
          <a:noFill/>
        </p:spPr>
        <p:txBody>
          <a:bodyPr wrap="square">
            <a:spAutoFit/>
          </a:bodyPr>
          <a:lstStyle/>
          <a:p>
            <a:pPr>
              <a:spcAft>
                <a:spcPts val="700"/>
              </a:spcAft>
              <a:defRPr sz="1200" b="1">
                <a:solidFill>
                  <a:srgbClr val="FFFFFF"/>
                </a:solidFill>
                <a:latin typeface="Aptos"/>
              </a:defRPr>
            </a:pPr>
            <a:r>
              <a:t>REFERENCE PRICE</a:t>
            </a:r>
          </a:p>
        </p:txBody>
      </p:sp>
      <p:sp>
        <p:nvSpPr>
          <p:cNvPr id="21" name="TextBox 20"/>
          <p:cNvSpPr txBox="1"/>
          <p:nvPr/>
        </p:nvSpPr>
        <p:spPr>
          <a:xfrm>
            <a:off x="9070848" y="3721608"/>
            <a:ext cx="2350008" cy="658368"/>
          </a:xfrm>
          <a:prstGeom prst="rect">
            <a:avLst/>
          </a:prstGeom>
          <a:noFill/>
        </p:spPr>
        <p:txBody>
          <a:bodyPr wrap="square">
            <a:spAutoFit/>
          </a:bodyPr>
          <a:lstStyle/>
          <a:p>
            <a:pPr>
              <a:spcAft>
                <a:spcPts val="700"/>
              </a:spcAft>
              <a:defRPr sz="2800" b="1">
                <a:solidFill>
                  <a:srgbClr val="FFFFFF"/>
                </a:solidFill>
                <a:latin typeface="Aptos"/>
              </a:defRPr>
            </a:pPr>
            <a:r>
              <a:t>$86.12</a:t>
            </a:r>
          </a:p>
        </p:txBody>
      </p:sp>
      <p:pic>
        <p:nvPicPr>
          <p:cNvPr id="23" name="Audio 22">
            <a:extLst>
              <a:ext uri="{FF2B5EF4-FFF2-40B4-BE49-F238E27FC236}">
                <a16:creationId xmlns:a16="http://schemas.microsoft.com/office/drawing/2014/main" id="{54E06A38-0FF9-BFA0-6360-A06F05134C7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80"/>
    </mc:Choice>
    <mc:Fallback>
      <p:transition spd="slow" advTm="35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1420</Words>
  <Application>Microsoft Macintosh PowerPoint</Application>
  <PresentationFormat>Widescreen</PresentationFormat>
  <Paragraphs>126</Paragraphs>
  <Slides>8</Slides>
  <Notes>8</Notes>
  <HiddenSlides>0</HiddenSlides>
  <MMClips>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 Mato</cp:lastModifiedBy>
  <cp:revision>4</cp:revision>
  <dcterms:created xsi:type="dcterms:W3CDTF">2013-01-27T09:14:16Z</dcterms:created>
  <dcterms:modified xsi:type="dcterms:W3CDTF">2026-10-18T18:14:20Z</dcterms:modified>
  <cp:category/>
</cp:coreProperties>
</file>