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80"/>
    <p:restoredTop sz="50000"/>
  </p:normalViewPr>
  <p:slideViewPr>
    <p:cSldViewPr snapToGrid="0" snapToObjects="1">
      <p:cViewPr>
        <p:scale>
          <a:sx n="56" d="100"/>
          <a:sy n="56" d="100"/>
        </p:scale>
        <p:origin x="39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1364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1</a:t>
            </a:r>
          </a:p>
          <a:p>
            <a:endParaRPr dirty="0"/>
          </a:p>
          <a:p>
            <a:r>
              <a:rPr lang="en-US" dirty="0"/>
              <a:t>After selecting Netflix for my project, I wanted to figure out whether it would actually be a good investment for a fund that doesn't currently own the stock.</a:t>
            </a:r>
          </a:p>
          <a:p>
            <a:r>
              <a:rPr lang="en-US" dirty="0"/>
              <a:t>To do that, I developed a financial model that uses Netflix's historical financial information to project its performance over the next five years.</a:t>
            </a:r>
          </a:p>
          <a:p>
            <a:r>
              <a:rPr lang="en-US" dirty="0"/>
              <a:t>The model connects revenue, expenses, and content spending to future cash flows. I then use those cash flows to estimate Netflix's intrinsic value.</a:t>
            </a:r>
          </a:p>
          <a:p>
            <a:r>
              <a:rPr lang="en-US" dirty="0"/>
              <a:t>The main purpose wasn't just to calculate a stock price. I wanted to understand which assumptions were driving that value and how much the recommendation could change if those assumptions were wrong.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2</a:t>
            </a:r>
          </a:p>
          <a:p>
            <a:endParaRPr lang="en-US" dirty="0"/>
          </a:p>
          <a:p>
            <a:r>
              <a:rPr lang="en-US" dirty="0"/>
              <a:t>"Here I'm going to show how the application runs.</a:t>
            </a:r>
          </a:p>
          <a:p>
            <a:r>
              <a:rPr lang="en-US" dirty="0"/>
              <a:t>The model is written in Python, and it doesn't require external packages or an internet connection to perform the calculations.</a:t>
            </a:r>
          </a:p>
          <a:p>
            <a:r>
              <a:rPr lang="en-US" dirty="0"/>
              <a:t>I'm going to run the file through the terminal."</a:t>
            </a:r>
          </a:p>
          <a:p>
            <a:r>
              <a:rPr lang="en-US" b="1" dirty="0"/>
              <a:t>[RUN python3 Project_1_Completion/final/</a:t>
            </a:r>
            <a:r>
              <a:rPr lang="en-US" b="1" dirty="0" err="1"/>
              <a:t>model.py</a:t>
            </a:r>
            <a:r>
              <a:rPr lang="en-US" b="1" dirty="0"/>
              <a:t> — use your actual file path.]</a:t>
            </a:r>
            <a:endParaRPr lang="en-US" dirty="0"/>
          </a:p>
          <a:p>
            <a:r>
              <a:rPr lang="en-US" dirty="0"/>
              <a:t>"After the model runs, it produces two main output files: </a:t>
            </a:r>
            <a:r>
              <a:rPr lang="en-US" dirty="0" err="1"/>
              <a:t>results.json</a:t>
            </a:r>
            <a:r>
              <a:rPr lang="en-US" dirty="0"/>
              <a:t> and </a:t>
            </a:r>
            <a:r>
              <a:rPr lang="en-US" dirty="0" err="1"/>
              <a:t>visible_results.md</a:t>
            </a:r>
            <a:r>
              <a:rPr lang="en-US" dirty="0"/>
              <a:t>.</a:t>
            </a:r>
          </a:p>
          <a:p>
            <a:r>
              <a:rPr lang="en-US" dirty="0"/>
              <a:t>The JSON file stores the numerical results, while the Markdown file presents them in a format that's easier to interpret.</a:t>
            </a:r>
          </a:p>
          <a:p>
            <a:r>
              <a:rPr lang="en-US" dirty="0"/>
              <a:t>This is important because someone reviewing my work can examine the financial calculations and results without having to run the model themselves."</a:t>
            </a:r>
          </a:p>
          <a:p>
            <a:r>
              <a:rPr lang="en-US" b="1" dirty="0"/>
              <a:t>[SHOW THE OUTPUT FILES AND CONFIRM THE ACTUAL RUN SUCCEEDED.]</a:t>
            </a: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3</a:t>
            </a:r>
          </a:p>
          <a:p>
            <a:endParaRPr dirty="0"/>
          </a:p>
          <a:p>
            <a:r>
              <a:rPr dirty="0"/>
              <a:t>First, the model establishes the reported base and separates facts from adjustments. FY2025 revenue is $45.18 billion and operating profit is $13.33 billion. The Brazil normalization changes recurring costs, while the expected deposit separately affects cash and other assets.</a:t>
            </a:r>
          </a:p>
          <a:p>
            <a:endParaRPr dirty="0"/>
          </a:p>
          <a:p>
            <a:r>
              <a:rPr dirty="0"/>
              <a:t>Second, explicit assumptions drive revenue, content additions, amortization and operating costs. The content schedule connects spending to assets, expenses and liabilities. Other schedules track fixed assets, debt and taxes. Those schedules feed the income statement, balance sheet and cash-flow statement.</a:t>
            </a:r>
          </a:p>
          <a:p>
            <a:endParaRPr dirty="0"/>
          </a:p>
          <a:p>
            <a:r>
              <a:rPr dirty="0"/>
              <a:t>Finally, the model calculates cash available to lenders and shareholders and values it. This keeps the forecast and valuation within the same financial system.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4</a:t>
            </a:r>
          </a:p>
          <a:p>
            <a:endParaRPr dirty="0"/>
          </a:p>
          <a:p>
            <a:r>
              <a:rPr dirty="0"/>
              <a:t>[PRIVATE CUE — Show the five forecast years in `</a:t>
            </a:r>
            <a:r>
              <a:rPr dirty="0" err="1"/>
              <a:t>visible_results.md</a:t>
            </a:r>
            <a:r>
              <a:rPr dirty="0"/>
              <a:t>`, then the FCFF calculation.]</a:t>
            </a:r>
          </a:p>
          <a:p>
            <a:endParaRPr dirty="0"/>
          </a:p>
          <a:p>
            <a:r>
              <a:rPr dirty="0"/>
              <a:t>Base revenue growth starts at 12% and fades to 6%, while content-additions growth fades from 8% to 4%. Operating expenses also decline relative to gross profit. Together, these assumptions produce improving margins. They are analyst judgments, and their exact percentages require a defensible evidence base.</a:t>
            </a:r>
          </a:p>
          <a:p>
            <a:endParaRPr dirty="0"/>
          </a:p>
          <a:p>
            <a:r>
              <a:rPr dirty="0"/>
              <a:t>In 2026, the model generates $50.61 billion of revenue, $16.18 billion of operating profit and $10.93 billion of unlevered cash flow.</a:t>
            </a:r>
          </a:p>
          <a:p>
            <a:endParaRPr dirty="0"/>
          </a:p>
          <a:p>
            <a:r>
              <a:rPr dirty="0"/>
              <a:t>Cash flow starts with after-tax operating profit. It adds back noncash depreciation and content amortization, subtracts investment, and accounts for operating-liability timing. Debt repayment and shareholder distributions remain financing items. The model separately reconciles unlevered cash flow to cash available to equity holders and financing movements.</a:t>
            </a:r>
          </a:p>
          <a:p>
            <a:endParaRPr dirty="0"/>
          </a:p>
          <a:p>
            <a:r>
              <a:rPr dirty="0"/>
              <a:t>[PRIVATE CUE — Explain in your own words why you accept or would revise one forecast assumption, and cite evidence that would change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5</a:t>
            </a:r>
          </a:p>
          <a:p>
            <a:endParaRPr dirty="0"/>
          </a:p>
          <a:p>
            <a:r>
              <a:rPr lang="en-US" dirty="0"/>
              <a:t>"Once I calculated the projected cash flows, I used a discounted cash flow model to determine Netflix's enterprise value.</a:t>
            </a:r>
          </a:p>
          <a:p>
            <a:r>
              <a:rPr lang="en-US" dirty="0"/>
              <a:t>The present value of the five-year forecast is approximately $56.40 billion.</a:t>
            </a:r>
          </a:p>
          <a:p>
            <a:r>
              <a:rPr lang="en-US" dirty="0"/>
              <a:t>The present value of the terminal period adds another $170.02 billion, producing an enterprise value of about $226.42 billion.</a:t>
            </a:r>
          </a:p>
          <a:p>
            <a:r>
              <a:rPr lang="en-US" dirty="0"/>
              <a:t>To convert this into equity value, I added approximately $9.06 billion of eligible cash and investments and subtracted $14.46 billion of debt.</a:t>
            </a:r>
          </a:p>
          <a:p>
            <a:r>
              <a:rPr lang="en-US" dirty="0"/>
              <a:t>This produced an estimated equity value of approximately $221.02 billion.</a:t>
            </a:r>
          </a:p>
          <a:p>
            <a:r>
              <a:rPr lang="en-US" dirty="0"/>
              <a:t>Finally, I divided that value by approximately 4.32 billion shares, including an allowance for dilution.</a:t>
            </a:r>
          </a:p>
          <a:p>
            <a:r>
              <a:rPr lang="en-US" dirty="0"/>
              <a:t>The resulting base-case valuation is </a:t>
            </a:r>
            <a:r>
              <a:rPr lang="en-US" b="1" dirty="0"/>
              <a:t>$51.20 per share</a:t>
            </a:r>
            <a:r>
              <a:rPr lang="en-US" dirty="0"/>
              <a:t>.</a:t>
            </a:r>
          </a:p>
          <a:p>
            <a:r>
              <a:rPr lang="en-US" dirty="0"/>
              <a:t>It's important to mention that this share count is an approximation, and the cash and debt values are based on December 31 balances rather than January 23."</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6</a:t>
            </a:r>
          </a:p>
          <a:p>
            <a:endParaRPr dirty="0"/>
          </a:p>
          <a:p>
            <a:r>
              <a:rPr lang="en-US" dirty="0"/>
              <a:t>"My DCF uses a 9% weighted average cost of capital, a 3% terminal growth rate, and a 15% terminal return on invested capital.</a:t>
            </a:r>
          </a:p>
          <a:p>
            <a:r>
              <a:rPr lang="en-US" dirty="0"/>
              <a:t>These assumptions are important because approximately 75% of Netflix's enterprise value comes from the terminal period.</a:t>
            </a:r>
          </a:p>
          <a:p>
            <a:r>
              <a:rPr lang="en-US" dirty="0"/>
              <a:t>That means much of the valuation depends on what happens beyond the five-year forecast.</a:t>
            </a:r>
          </a:p>
          <a:p>
            <a:r>
              <a:rPr lang="en-US" dirty="0"/>
              <a:t>To test the effect of the discount rate, I increased WACC from 9% to 12%, holding the other assumptions constant.</a:t>
            </a:r>
          </a:p>
          <a:p>
            <a:r>
              <a:rPr lang="en-US" dirty="0"/>
              <a:t>The estimated value fell from $51.20 to $33.71 per share, which is a decline of about 34%.</a:t>
            </a:r>
          </a:p>
          <a:p>
            <a:r>
              <a:rPr lang="en-US" dirty="0"/>
              <a:t>This makes sense because a higher discount rate reduces the present value of future cash flows.</a:t>
            </a:r>
          </a:p>
          <a:p>
            <a:r>
              <a:rPr lang="en-US" dirty="0"/>
              <a:t>The test shows how sensitive Netflix's valuation is to its cost of capital.</a:t>
            </a:r>
          </a:p>
          <a:p>
            <a:r>
              <a:rPr lang="en-US" dirty="0"/>
              <a:t>I also researched Netflix's beta and found that Yahoo Finance displayed a five-year monthly beta of 1.61, compared with the 1.0 assumption in my model. However, that observation was retrieved after my historical valuation date, so I didn't automatically replace my original beta.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7</a:t>
            </a:r>
          </a:p>
          <a:p>
            <a:endParaRPr dirty="0"/>
          </a:p>
          <a:p>
            <a:r>
              <a:rPr lang="en-US" dirty="0"/>
              <a:t>"Another important part of my project was testing whether the model calculates results correctly.</a:t>
            </a:r>
          </a:p>
          <a:p>
            <a:r>
              <a:rPr lang="en-US" dirty="0"/>
              <a:t>I didn't want to rely only on the fact that the code ran successfully.</a:t>
            </a:r>
          </a:p>
          <a:p>
            <a:r>
              <a:rPr lang="en-US" dirty="0"/>
              <a:t>First, the model checks that the projected balance sheet balances for each forecast year and that cash flow reconciles to the change in cash.</a:t>
            </a:r>
          </a:p>
          <a:p>
            <a:r>
              <a:rPr lang="en-US" dirty="0"/>
              <a:t>It also includes a synthetic test using a perpetuity with a known answer.</a:t>
            </a:r>
          </a:p>
          <a:p>
            <a:r>
              <a:rPr lang="en-US" dirty="0"/>
              <a:t>The model tests whether $100 of annual cash flow discounted at 10%, with no growth, produces a value of $1,000.</a:t>
            </a:r>
          </a:p>
          <a:p>
            <a:r>
              <a:rPr lang="en-US" dirty="0"/>
              <a:t>I also tested the model's response to inconsistent financial information.</a:t>
            </a:r>
          </a:p>
          <a:p>
            <a:r>
              <a:rPr lang="en-US" dirty="0"/>
              <a:t>For example, the existing validation tests deliberately introduce differences into cash or free cash flow. The model should identify those inconsistencies rather than continue calculating a misleading valuation.</a:t>
            </a:r>
          </a:p>
          <a:p>
            <a:r>
              <a:rPr lang="en-US" dirty="0"/>
              <a:t>These tests help establish that the calculations are internally consistent.</a:t>
            </a:r>
          </a:p>
          <a:p>
            <a:r>
              <a:rPr lang="en-US" dirty="0"/>
              <a:t>However, they don't prove that the growth assumptions or future profitability forecasts are correct."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8</a:t>
            </a:r>
          </a:p>
          <a:p>
            <a:endParaRPr dirty="0"/>
          </a:p>
          <a:p>
            <a:r>
              <a:rPr lang="en-US" dirty="0"/>
              <a:t>One of the biggest things I learned from this project is that getting the code to run isn't the same as proving the financial analysis is correct.</a:t>
            </a:r>
          </a:p>
          <a:p>
            <a:r>
              <a:rPr lang="en-US" dirty="0"/>
              <a:t>I tested the model in several ways. First, I checked whether the projected balance sheets and cash flows reconciled. I also used a simple calculation with a known answer to check the discounting logic.</a:t>
            </a:r>
          </a:p>
          <a:p>
            <a:r>
              <a:rPr lang="en-US" dirty="0"/>
              <a:t>I then tested what happened when I increased WACC from 9% to 12%. Netflix's estimated value decreased from $51.20 to $33.71, which demonstrated how sensitive the valuation is to the required return.</a:t>
            </a:r>
          </a:p>
          <a:p>
            <a:r>
              <a:rPr lang="en-US" dirty="0"/>
              <a:t>Finally, the model includes tests that deliberately introduce errors into cash flow or balance-sheet calculations. These help identify inconsistencies before the model produces a valuation.</a:t>
            </a:r>
          </a:p>
          <a:p>
            <a:r>
              <a:rPr lang="en-US" dirty="0"/>
              <a:t>These tests give me more confidence in the calculations, but they don't guarantee my assumptions about Netflix's future performance will be correct.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2, SLIDE 9</a:t>
            </a:r>
            <a:endParaRPr lang="en-US" dirty="0"/>
          </a:p>
          <a:p>
            <a:endParaRPr dirty="0"/>
          </a:p>
          <a:p>
            <a:r>
              <a:rPr lang="en-US" dirty="0"/>
              <a:t>Overall, building this model allowed me to connect Netflix's historical financial performance to its projected future cash flows and estimated intrinsic value.</a:t>
            </a:r>
          </a:p>
          <a:p>
            <a:r>
              <a:rPr lang="en-US" dirty="0"/>
              <a:t>It also allowed me to test how different assumptions affected the results.</a:t>
            </a:r>
          </a:p>
          <a:p>
            <a:r>
              <a:rPr lang="en-US" dirty="0"/>
              <a:t>The base case produces an estimated value of $51.20 per share, but that number depends on assumptions about revenue growth, content spending, profitability, and the cost of capital.</a:t>
            </a:r>
          </a:p>
          <a:p>
            <a:r>
              <a:rPr lang="en-US" dirty="0"/>
              <a:t>The validation tests help me understand whether the calculations are consistent, while the sensitivity analysis shows where the valuation is most vulnerable to changes in assumptions.</a:t>
            </a:r>
          </a:p>
          <a:p>
            <a:r>
              <a:rPr lang="en-US" dirty="0"/>
              <a:t>Ultimately, the model provides evidence to support an investment recommendation, but it doesn't make the decision for me.</a:t>
            </a:r>
          </a:p>
          <a:p>
            <a:r>
              <a:rPr lang="en-US" dirty="0"/>
              <a:t>In my final presentation, I'll explain why these results support placing Netflix on a watchlist rather than initiating a position at its historical market price.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How I evaluated Netflix</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Model architecture</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01</a:t>
            </a:r>
          </a:p>
        </p:txBody>
      </p:sp>
      <p:sp>
        <p:nvSpPr>
          <p:cNvPr id="10" name="Rounded Rectangle 9"/>
          <p:cNvSpPr/>
          <p:nvPr/>
        </p:nvSpPr>
        <p:spPr>
          <a:xfrm>
            <a:off x="640080" y="2816352"/>
            <a:ext cx="2484882"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3017520"/>
            <a:ext cx="2064257" cy="274320"/>
          </a:xfrm>
          <a:prstGeom prst="rect">
            <a:avLst/>
          </a:prstGeom>
          <a:noFill/>
        </p:spPr>
        <p:txBody>
          <a:bodyPr wrap="square">
            <a:spAutoFit/>
          </a:bodyPr>
          <a:lstStyle/>
          <a:p>
            <a:pPr>
              <a:spcAft>
                <a:spcPts val="700"/>
              </a:spcAft>
              <a:defRPr sz="1100" b="1">
                <a:solidFill>
                  <a:srgbClr val="4B5767"/>
                </a:solidFill>
                <a:latin typeface="Aptos"/>
              </a:defRPr>
            </a:pPr>
            <a:r>
              <a:t>STEP 1</a:t>
            </a:r>
          </a:p>
        </p:txBody>
      </p:sp>
      <p:sp>
        <p:nvSpPr>
          <p:cNvPr id="12" name="TextBox 11"/>
          <p:cNvSpPr txBox="1"/>
          <p:nvPr/>
        </p:nvSpPr>
        <p:spPr>
          <a:xfrm>
            <a:off x="850392" y="3483864"/>
            <a:ext cx="2064257" cy="630936"/>
          </a:xfrm>
          <a:prstGeom prst="rect">
            <a:avLst/>
          </a:prstGeom>
          <a:noFill/>
        </p:spPr>
        <p:txBody>
          <a:bodyPr wrap="square">
            <a:spAutoFit/>
          </a:bodyPr>
          <a:lstStyle/>
          <a:p>
            <a:pPr>
              <a:spcAft>
                <a:spcPts val="700"/>
              </a:spcAft>
              <a:defRPr sz="2900" b="1">
                <a:solidFill>
                  <a:srgbClr val="141B2A"/>
                </a:solidFill>
                <a:latin typeface="Aptos"/>
              </a:defRPr>
            </a:pPr>
            <a:r>
              <a:t>Historical inputs</a:t>
            </a:r>
          </a:p>
        </p:txBody>
      </p:sp>
      <p:sp>
        <p:nvSpPr>
          <p:cNvPr id="13" name="TextBox 12"/>
          <p:cNvSpPr txBox="1"/>
          <p:nvPr/>
        </p:nvSpPr>
        <p:spPr>
          <a:xfrm>
            <a:off x="3175253" y="3383280"/>
            <a:ext cx="182880" cy="457200"/>
          </a:xfrm>
          <a:prstGeom prst="rect">
            <a:avLst/>
          </a:prstGeom>
          <a:noFill/>
        </p:spPr>
        <p:txBody>
          <a:bodyPr wrap="square">
            <a:spAutoFit/>
          </a:bodyPr>
          <a:lstStyle/>
          <a:p>
            <a:pPr>
              <a:spcAft>
                <a:spcPts val="700"/>
              </a:spcAft>
              <a:defRPr sz="2500" b="1">
                <a:solidFill>
                  <a:srgbClr val="CD182B"/>
                </a:solidFill>
                <a:latin typeface="Aptos"/>
              </a:defRPr>
            </a:pPr>
            <a:r>
              <a:t>›</a:t>
            </a:r>
          </a:p>
        </p:txBody>
      </p:sp>
      <p:sp>
        <p:nvSpPr>
          <p:cNvPr id="14" name="Rounded Rectangle 13"/>
          <p:cNvSpPr/>
          <p:nvPr/>
        </p:nvSpPr>
        <p:spPr>
          <a:xfrm>
            <a:off x="3326130" y="2816352"/>
            <a:ext cx="2484882"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6442" y="3017520"/>
            <a:ext cx="2064257" cy="274320"/>
          </a:xfrm>
          <a:prstGeom prst="rect">
            <a:avLst/>
          </a:prstGeom>
          <a:noFill/>
        </p:spPr>
        <p:txBody>
          <a:bodyPr wrap="square">
            <a:spAutoFit/>
          </a:bodyPr>
          <a:lstStyle/>
          <a:p>
            <a:pPr>
              <a:spcAft>
                <a:spcPts val="700"/>
              </a:spcAft>
              <a:defRPr sz="1100" b="1">
                <a:solidFill>
                  <a:srgbClr val="4B5767"/>
                </a:solidFill>
                <a:latin typeface="Aptos"/>
              </a:defRPr>
            </a:pPr>
            <a:r>
              <a:t>STEP 2</a:t>
            </a:r>
          </a:p>
        </p:txBody>
      </p:sp>
      <p:sp>
        <p:nvSpPr>
          <p:cNvPr id="16" name="TextBox 15"/>
          <p:cNvSpPr txBox="1"/>
          <p:nvPr/>
        </p:nvSpPr>
        <p:spPr>
          <a:xfrm>
            <a:off x="3536442" y="3483864"/>
            <a:ext cx="2324862" cy="984885"/>
          </a:xfrm>
          <a:prstGeom prst="rect">
            <a:avLst/>
          </a:prstGeom>
          <a:noFill/>
        </p:spPr>
        <p:txBody>
          <a:bodyPr wrap="square">
            <a:spAutoFit/>
          </a:bodyPr>
          <a:lstStyle/>
          <a:p>
            <a:pPr>
              <a:spcAft>
                <a:spcPts val="700"/>
              </a:spcAft>
              <a:defRPr sz="2900" b="1">
                <a:solidFill>
                  <a:srgbClr val="141B2A"/>
                </a:solidFill>
                <a:latin typeface="Aptos"/>
              </a:defRPr>
            </a:pPr>
            <a:r>
              <a:rPr dirty="0"/>
              <a:t>5-year statements</a:t>
            </a:r>
          </a:p>
        </p:txBody>
      </p:sp>
      <p:sp>
        <p:nvSpPr>
          <p:cNvPr id="17" name="TextBox 16"/>
          <p:cNvSpPr txBox="1"/>
          <p:nvPr/>
        </p:nvSpPr>
        <p:spPr>
          <a:xfrm>
            <a:off x="5861304" y="3383280"/>
            <a:ext cx="182880" cy="457200"/>
          </a:xfrm>
          <a:prstGeom prst="rect">
            <a:avLst/>
          </a:prstGeom>
          <a:noFill/>
        </p:spPr>
        <p:txBody>
          <a:bodyPr wrap="square">
            <a:spAutoFit/>
          </a:bodyPr>
          <a:lstStyle/>
          <a:p>
            <a:pPr>
              <a:spcAft>
                <a:spcPts val="700"/>
              </a:spcAft>
              <a:defRPr sz="2500" b="1">
                <a:solidFill>
                  <a:srgbClr val="CD182B"/>
                </a:solidFill>
                <a:latin typeface="Aptos"/>
              </a:defRPr>
            </a:pPr>
            <a:r>
              <a:t>›</a:t>
            </a:r>
          </a:p>
        </p:txBody>
      </p:sp>
      <p:sp>
        <p:nvSpPr>
          <p:cNvPr id="18" name="Rounded Rectangle 17"/>
          <p:cNvSpPr/>
          <p:nvPr/>
        </p:nvSpPr>
        <p:spPr>
          <a:xfrm>
            <a:off x="6012180" y="2816352"/>
            <a:ext cx="2484882"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22492" y="3017520"/>
            <a:ext cx="2064257" cy="274320"/>
          </a:xfrm>
          <a:prstGeom prst="rect">
            <a:avLst/>
          </a:prstGeom>
          <a:noFill/>
        </p:spPr>
        <p:txBody>
          <a:bodyPr wrap="square">
            <a:spAutoFit/>
          </a:bodyPr>
          <a:lstStyle/>
          <a:p>
            <a:pPr>
              <a:spcAft>
                <a:spcPts val="700"/>
              </a:spcAft>
              <a:defRPr sz="1100" b="1">
                <a:solidFill>
                  <a:srgbClr val="4B5767"/>
                </a:solidFill>
                <a:latin typeface="Aptos"/>
              </a:defRPr>
            </a:pPr>
            <a:r>
              <a:t>STEP 3</a:t>
            </a:r>
          </a:p>
        </p:txBody>
      </p:sp>
      <p:sp>
        <p:nvSpPr>
          <p:cNvPr id="20" name="TextBox 19"/>
          <p:cNvSpPr txBox="1"/>
          <p:nvPr/>
        </p:nvSpPr>
        <p:spPr>
          <a:xfrm>
            <a:off x="6222492" y="3483864"/>
            <a:ext cx="2064257" cy="630936"/>
          </a:xfrm>
          <a:prstGeom prst="rect">
            <a:avLst/>
          </a:prstGeom>
          <a:noFill/>
        </p:spPr>
        <p:txBody>
          <a:bodyPr wrap="square">
            <a:spAutoFit/>
          </a:bodyPr>
          <a:lstStyle/>
          <a:p>
            <a:pPr>
              <a:spcAft>
                <a:spcPts val="700"/>
              </a:spcAft>
              <a:defRPr sz="2900" b="1">
                <a:solidFill>
                  <a:srgbClr val="141B2A"/>
                </a:solidFill>
                <a:latin typeface="Aptos"/>
              </a:defRPr>
            </a:pPr>
            <a:r>
              <a:t>FCFF / WACC</a:t>
            </a:r>
          </a:p>
        </p:txBody>
      </p:sp>
      <p:sp>
        <p:nvSpPr>
          <p:cNvPr id="21" name="TextBox 20"/>
          <p:cNvSpPr txBox="1"/>
          <p:nvPr/>
        </p:nvSpPr>
        <p:spPr>
          <a:xfrm>
            <a:off x="8547354" y="3383280"/>
            <a:ext cx="182880" cy="457200"/>
          </a:xfrm>
          <a:prstGeom prst="rect">
            <a:avLst/>
          </a:prstGeom>
          <a:noFill/>
        </p:spPr>
        <p:txBody>
          <a:bodyPr wrap="square">
            <a:spAutoFit/>
          </a:bodyPr>
          <a:lstStyle/>
          <a:p>
            <a:pPr>
              <a:spcAft>
                <a:spcPts val="700"/>
              </a:spcAft>
              <a:defRPr sz="2500" b="1">
                <a:solidFill>
                  <a:srgbClr val="CD182B"/>
                </a:solidFill>
                <a:latin typeface="Aptos"/>
              </a:defRPr>
            </a:pPr>
            <a:r>
              <a:t>›</a:t>
            </a:r>
          </a:p>
        </p:txBody>
      </p:sp>
      <p:sp>
        <p:nvSpPr>
          <p:cNvPr id="22" name="Rounded Rectangle 21"/>
          <p:cNvSpPr/>
          <p:nvPr/>
        </p:nvSpPr>
        <p:spPr>
          <a:xfrm>
            <a:off x="8698230" y="2816352"/>
            <a:ext cx="2484882"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08542" y="3017520"/>
            <a:ext cx="2064257" cy="274320"/>
          </a:xfrm>
          <a:prstGeom prst="rect">
            <a:avLst/>
          </a:prstGeom>
          <a:noFill/>
        </p:spPr>
        <p:txBody>
          <a:bodyPr wrap="square">
            <a:spAutoFit/>
          </a:bodyPr>
          <a:lstStyle/>
          <a:p>
            <a:pPr>
              <a:spcAft>
                <a:spcPts val="700"/>
              </a:spcAft>
              <a:defRPr sz="1100" b="1">
                <a:solidFill>
                  <a:srgbClr val="4B5767"/>
                </a:solidFill>
                <a:latin typeface="Aptos"/>
              </a:defRPr>
            </a:pPr>
            <a:r>
              <a:t>STEP 4</a:t>
            </a:r>
          </a:p>
        </p:txBody>
      </p:sp>
      <p:sp>
        <p:nvSpPr>
          <p:cNvPr id="24" name="TextBox 23"/>
          <p:cNvSpPr txBox="1"/>
          <p:nvPr/>
        </p:nvSpPr>
        <p:spPr>
          <a:xfrm>
            <a:off x="8908542" y="3483864"/>
            <a:ext cx="2064257" cy="630936"/>
          </a:xfrm>
          <a:prstGeom prst="rect">
            <a:avLst/>
          </a:prstGeom>
          <a:noFill/>
        </p:spPr>
        <p:txBody>
          <a:bodyPr wrap="square">
            <a:spAutoFit/>
          </a:bodyPr>
          <a:lstStyle/>
          <a:p>
            <a:pPr>
              <a:spcAft>
                <a:spcPts val="700"/>
              </a:spcAft>
              <a:defRPr sz="2900" b="1">
                <a:solidFill>
                  <a:srgbClr val="141B2A"/>
                </a:solidFill>
                <a:latin typeface="Aptos"/>
              </a:defRPr>
            </a:pPr>
            <a:r>
              <a:t>Share value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rPr dirty="0"/>
              <a:t>A model the reviewer can actually run</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Local Python application</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02</a:t>
            </a:r>
          </a:p>
        </p:txBody>
      </p:sp>
      <p:sp>
        <p:nvSpPr>
          <p:cNvPr id="10" name="Rounded Rectangle 9"/>
          <p:cNvSpPr/>
          <p:nvPr/>
        </p:nvSpPr>
        <p:spPr>
          <a:xfrm>
            <a:off x="731520" y="2468880"/>
            <a:ext cx="10744200" cy="2148840"/>
          </a:xfrm>
          <a:prstGeom prst="roundRect">
            <a:avLst/>
          </a:prstGeom>
          <a:solidFill>
            <a:srgbClr val="14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2761488"/>
            <a:ext cx="10012680" cy="475488"/>
          </a:xfrm>
          <a:prstGeom prst="rect">
            <a:avLst/>
          </a:prstGeom>
          <a:noFill/>
        </p:spPr>
        <p:txBody>
          <a:bodyPr wrap="square">
            <a:spAutoFit/>
          </a:bodyPr>
          <a:lstStyle/>
          <a:p>
            <a:pPr>
              <a:spcAft>
                <a:spcPts val="700"/>
              </a:spcAft>
              <a:defRPr sz="1800" b="1">
                <a:solidFill>
                  <a:srgbClr val="FFFFFF"/>
                </a:solidFill>
                <a:latin typeface="Aptos"/>
              </a:defRPr>
            </a:pPr>
            <a:r>
              <a:t>python3 Project_1_Completion/final/model.py</a:t>
            </a:r>
          </a:p>
        </p:txBody>
      </p:sp>
      <p:sp>
        <p:nvSpPr>
          <p:cNvPr id="12" name="TextBox 11"/>
          <p:cNvSpPr txBox="1"/>
          <p:nvPr/>
        </p:nvSpPr>
        <p:spPr>
          <a:xfrm>
            <a:off x="1051560" y="3282696"/>
            <a:ext cx="10012680" cy="475488"/>
          </a:xfrm>
          <a:prstGeom prst="rect">
            <a:avLst/>
          </a:prstGeom>
          <a:noFill/>
        </p:spPr>
        <p:txBody>
          <a:bodyPr wrap="square">
            <a:spAutoFit/>
          </a:bodyPr>
          <a:lstStyle/>
          <a:p>
            <a:pPr>
              <a:spcAft>
                <a:spcPts val="700"/>
              </a:spcAft>
              <a:defRPr sz="1500" b="0">
                <a:solidFill>
                  <a:srgbClr val="FFFFFF"/>
                </a:solidFill>
                <a:latin typeface="Aptos"/>
              </a:defRPr>
            </a:pPr>
            <a:r>
              <a:t>Outputs: visible_results.md  +  results.json</a:t>
            </a:r>
          </a:p>
        </p:txBody>
      </p:sp>
      <p:sp>
        <p:nvSpPr>
          <p:cNvPr id="13" name="TextBox 12"/>
          <p:cNvSpPr txBox="1"/>
          <p:nvPr/>
        </p:nvSpPr>
        <p:spPr>
          <a:xfrm>
            <a:off x="1051560" y="3803904"/>
            <a:ext cx="10012680" cy="475488"/>
          </a:xfrm>
          <a:prstGeom prst="rect">
            <a:avLst/>
          </a:prstGeom>
          <a:noFill/>
        </p:spPr>
        <p:txBody>
          <a:bodyPr wrap="square">
            <a:spAutoFit/>
          </a:bodyPr>
          <a:lstStyle/>
          <a:p>
            <a:pPr>
              <a:spcAft>
                <a:spcPts val="700"/>
              </a:spcAft>
              <a:defRPr sz="1500" b="0">
                <a:solidFill>
                  <a:srgbClr val="FFFFFF"/>
                </a:solidFill>
                <a:latin typeface="Aptos"/>
              </a:defRPr>
            </a:pPr>
            <a:r>
              <a:t>Demo: run temporary copy; do not overwrite reviewed outputs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Every forecast starts with historical facts</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Model logic</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03</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Separate reported facts from Brazil normalization</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Forecast content, operating costs, assets and liabilities</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t>Tie three statements before calculating FCFF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Operating assumptions feed the valuation</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2026 and 2030 comparison</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04</a:t>
            </a:r>
          </a:p>
        </p:txBody>
      </p:sp>
      <p:sp>
        <p:nvSpPr>
          <p:cNvPr id="10" name="Rectangle 9"/>
          <p:cNvSpPr/>
          <p:nvPr/>
        </p:nvSpPr>
        <p:spPr>
          <a:xfrm>
            <a:off x="731520" y="2468880"/>
            <a:ext cx="10698480" cy="530352"/>
          </a:xfrm>
          <a:prstGeom prst="rect">
            <a:avLst/>
          </a:prstGeom>
          <a:solidFill>
            <a:srgbClr val="14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2578608"/>
            <a:ext cx="3319272" cy="320040"/>
          </a:xfrm>
          <a:prstGeom prst="rect">
            <a:avLst/>
          </a:prstGeom>
          <a:noFill/>
        </p:spPr>
        <p:txBody>
          <a:bodyPr wrap="square">
            <a:spAutoFit/>
          </a:bodyPr>
          <a:lstStyle/>
          <a:p>
            <a:pPr>
              <a:spcAft>
                <a:spcPts val="700"/>
              </a:spcAft>
              <a:defRPr sz="1300" b="1">
                <a:solidFill>
                  <a:srgbClr val="FFFFFF"/>
                </a:solidFill>
                <a:latin typeface="Aptos"/>
              </a:defRPr>
            </a:pPr>
            <a:r>
              <a:t>Metric</a:t>
            </a:r>
          </a:p>
        </p:txBody>
      </p:sp>
      <p:sp>
        <p:nvSpPr>
          <p:cNvPr id="12" name="TextBox 11"/>
          <p:cNvSpPr txBox="1"/>
          <p:nvPr/>
        </p:nvSpPr>
        <p:spPr>
          <a:xfrm>
            <a:off x="4443984" y="2578608"/>
            <a:ext cx="3319272" cy="320040"/>
          </a:xfrm>
          <a:prstGeom prst="rect">
            <a:avLst/>
          </a:prstGeom>
          <a:noFill/>
        </p:spPr>
        <p:txBody>
          <a:bodyPr wrap="square">
            <a:spAutoFit/>
          </a:bodyPr>
          <a:lstStyle/>
          <a:p>
            <a:pPr>
              <a:spcAft>
                <a:spcPts val="700"/>
              </a:spcAft>
              <a:defRPr sz="1300" b="1">
                <a:solidFill>
                  <a:srgbClr val="FFFFFF"/>
                </a:solidFill>
                <a:latin typeface="Aptos"/>
              </a:defRPr>
            </a:pPr>
            <a:r>
              <a:t>2026</a:t>
            </a:r>
          </a:p>
        </p:txBody>
      </p:sp>
      <p:sp>
        <p:nvSpPr>
          <p:cNvPr id="13" name="TextBox 12"/>
          <p:cNvSpPr txBox="1"/>
          <p:nvPr/>
        </p:nvSpPr>
        <p:spPr>
          <a:xfrm>
            <a:off x="8010144" y="2578608"/>
            <a:ext cx="3319272" cy="320040"/>
          </a:xfrm>
          <a:prstGeom prst="rect">
            <a:avLst/>
          </a:prstGeom>
          <a:noFill/>
        </p:spPr>
        <p:txBody>
          <a:bodyPr wrap="square">
            <a:spAutoFit/>
          </a:bodyPr>
          <a:lstStyle/>
          <a:p>
            <a:pPr>
              <a:spcAft>
                <a:spcPts val="700"/>
              </a:spcAft>
              <a:defRPr sz="1300" b="1">
                <a:solidFill>
                  <a:srgbClr val="FFFFFF"/>
                </a:solidFill>
                <a:latin typeface="Aptos"/>
              </a:defRPr>
            </a:pPr>
            <a:r>
              <a:t>2030</a:t>
            </a:r>
          </a:p>
        </p:txBody>
      </p:sp>
      <p:sp>
        <p:nvSpPr>
          <p:cNvPr id="14" name="Rectangle 13"/>
          <p:cNvSpPr/>
          <p:nvPr/>
        </p:nvSpPr>
        <p:spPr>
          <a:xfrm>
            <a:off x="731520" y="3063240"/>
            <a:ext cx="10698480" cy="48463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3154680"/>
            <a:ext cx="3310128" cy="310896"/>
          </a:xfrm>
          <a:prstGeom prst="rect">
            <a:avLst/>
          </a:prstGeom>
          <a:noFill/>
        </p:spPr>
        <p:txBody>
          <a:bodyPr wrap="square">
            <a:spAutoFit/>
          </a:bodyPr>
          <a:lstStyle/>
          <a:p>
            <a:pPr>
              <a:spcAft>
                <a:spcPts val="700"/>
              </a:spcAft>
              <a:defRPr sz="1300" b="1">
                <a:solidFill>
                  <a:srgbClr val="141B2A"/>
                </a:solidFill>
                <a:latin typeface="Aptos"/>
              </a:defRPr>
            </a:pPr>
            <a:r>
              <a:t>Revenue growth</a:t>
            </a:r>
          </a:p>
        </p:txBody>
      </p:sp>
      <p:sp>
        <p:nvSpPr>
          <p:cNvPr id="16" name="TextBox 15"/>
          <p:cNvSpPr txBox="1"/>
          <p:nvPr/>
        </p:nvSpPr>
        <p:spPr>
          <a:xfrm>
            <a:off x="4453128" y="3154680"/>
            <a:ext cx="3310128" cy="310896"/>
          </a:xfrm>
          <a:prstGeom prst="rect">
            <a:avLst/>
          </a:prstGeom>
          <a:noFill/>
        </p:spPr>
        <p:txBody>
          <a:bodyPr wrap="square">
            <a:spAutoFit/>
          </a:bodyPr>
          <a:lstStyle/>
          <a:p>
            <a:pPr>
              <a:spcAft>
                <a:spcPts val="700"/>
              </a:spcAft>
              <a:defRPr sz="1300" b="0">
                <a:solidFill>
                  <a:srgbClr val="141B2A"/>
                </a:solidFill>
                <a:latin typeface="Aptos"/>
              </a:defRPr>
            </a:pPr>
            <a:r>
              <a:t>12%</a:t>
            </a:r>
          </a:p>
        </p:txBody>
      </p:sp>
      <p:sp>
        <p:nvSpPr>
          <p:cNvPr id="17" name="TextBox 16"/>
          <p:cNvSpPr txBox="1"/>
          <p:nvPr/>
        </p:nvSpPr>
        <p:spPr>
          <a:xfrm>
            <a:off x="8019288" y="3154680"/>
            <a:ext cx="3310128" cy="310896"/>
          </a:xfrm>
          <a:prstGeom prst="rect">
            <a:avLst/>
          </a:prstGeom>
          <a:noFill/>
        </p:spPr>
        <p:txBody>
          <a:bodyPr wrap="square">
            <a:spAutoFit/>
          </a:bodyPr>
          <a:lstStyle/>
          <a:p>
            <a:pPr>
              <a:spcAft>
                <a:spcPts val="700"/>
              </a:spcAft>
              <a:defRPr sz="1300" b="0">
                <a:solidFill>
                  <a:srgbClr val="141B2A"/>
                </a:solidFill>
                <a:latin typeface="Aptos"/>
              </a:defRPr>
            </a:pPr>
            <a:r>
              <a:t>6%</a:t>
            </a:r>
          </a:p>
        </p:txBody>
      </p:sp>
      <p:sp>
        <p:nvSpPr>
          <p:cNvPr id="18" name="Rectangle 17"/>
          <p:cNvSpPr/>
          <p:nvPr/>
        </p:nvSpPr>
        <p:spPr>
          <a:xfrm>
            <a:off x="731520" y="3611880"/>
            <a:ext cx="1069848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6968" y="3703320"/>
            <a:ext cx="3310128" cy="310896"/>
          </a:xfrm>
          <a:prstGeom prst="rect">
            <a:avLst/>
          </a:prstGeom>
          <a:noFill/>
        </p:spPr>
        <p:txBody>
          <a:bodyPr wrap="square">
            <a:spAutoFit/>
          </a:bodyPr>
          <a:lstStyle/>
          <a:p>
            <a:pPr>
              <a:spcAft>
                <a:spcPts val="700"/>
              </a:spcAft>
              <a:defRPr sz="1300" b="1">
                <a:solidFill>
                  <a:srgbClr val="141B2A"/>
                </a:solidFill>
                <a:latin typeface="Aptos"/>
              </a:defRPr>
            </a:pPr>
            <a:r>
              <a:t>Revenue</a:t>
            </a:r>
          </a:p>
        </p:txBody>
      </p:sp>
      <p:sp>
        <p:nvSpPr>
          <p:cNvPr id="20" name="TextBox 19"/>
          <p:cNvSpPr txBox="1"/>
          <p:nvPr/>
        </p:nvSpPr>
        <p:spPr>
          <a:xfrm>
            <a:off x="4453128" y="3703320"/>
            <a:ext cx="3310128" cy="310896"/>
          </a:xfrm>
          <a:prstGeom prst="rect">
            <a:avLst/>
          </a:prstGeom>
          <a:noFill/>
        </p:spPr>
        <p:txBody>
          <a:bodyPr wrap="square">
            <a:spAutoFit/>
          </a:bodyPr>
          <a:lstStyle/>
          <a:p>
            <a:pPr>
              <a:spcAft>
                <a:spcPts val="700"/>
              </a:spcAft>
              <a:defRPr sz="1300" b="0">
                <a:solidFill>
                  <a:srgbClr val="141B2A"/>
                </a:solidFill>
                <a:latin typeface="Aptos"/>
              </a:defRPr>
            </a:pPr>
            <a:r>
              <a:t>$50.61bn</a:t>
            </a:r>
          </a:p>
        </p:txBody>
      </p:sp>
      <p:sp>
        <p:nvSpPr>
          <p:cNvPr id="21" name="TextBox 20"/>
          <p:cNvSpPr txBox="1"/>
          <p:nvPr/>
        </p:nvSpPr>
        <p:spPr>
          <a:xfrm>
            <a:off x="8019288" y="3703320"/>
            <a:ext cx="3310128" cy="310896"/>
          </a:xfrm>
          <a:prstGeom prst="rect">
            <a:avLst/>
          </a:prstGeom>
          <a:noFill/>
        </p:spPr>
        <p:txBody>
          <a:bodyPr wrap="square">
            <a:spAutoFit/>
          </a:bodyPr>
          <a:lstStyle/>
          <a:p>
            <a:pPr>
              <a:spcAft>
                <a:spcPts val="700"/>
              </a:spcAft>
              <a:defRPr sz="1300" b="0">
                <a:solidFill>
                  <a:srgbClr val="141B2A"/>
                </a:solidFill>
                <a:latin typeface="Aptos"/>
              </a:defRPr>
            </a:pPr>
            <a:r>
              <a:t>$68.19bn</a:t>
            </a:r>
          </a:p>
        </p:txBody>
      </p:sp>
      <p:sp>
        <p:nvSpPr>
          <p:cNvPr id="22" name="Rectangle 21"/>
          <p:cNvSpPr/>
          <p:nvPr/>
        </p:nvSpPr>
        <p:spPr>
          <a:xfrm>
            <a:off x="731520" y="4160520"/>
            <a:ext cx="10698480" cy="48463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4251959"/>
            <a:ext cx="3310128" cy="310896"/>
          </a:xfrm>
          <a:prstGeom prst="rect">
            <a:avLst/>
          </a:prstGeom>
          <a:noFill/>
        </p:spPr>
        <p:txBody>
          <a:bodyPr wrap="square">
            <a:spAutoFit/>
          </a:bodyPr>
          <a:lstStyle/>
          <a:p>
            <a:pPr>
              <a:spcAft>
                <a:spcPts val="700"/>
              </a:spcAft>
              <a:defRPr sz="1300" b="1">
                <a:solidFill>
                  <a:srgbClr val="141B2A"/>
                </a:solidFill>
                <a:latin typeface="Aptos"/>
              </a:defRPr>
            </a:pPr>
            <a:r>
              <a:t>EBIT</a:t>
            </a:r>
          </a:p>
        </p:txBody>
      </p:sp>
      <p:sp>
        <p:nvSpPr>
          <p:cNvPr id="24" name="TextBox 23"/>
          <p:cNvSpPr txBox="1"/>
          <p:nvPr/>
        </p:nvSpPr>
        <p:spPr>
          <a:xfrm>
            <a:off x="4453128" y="4251959"/>
            <a:ext cx="3310128" cy="310896"/>
          </a:xfrm>
          <a:prstGeom prst="rect">
            <a:avLst/>
          </a:prstGeom>
          <a:noFill/>
        </p:spPr>
        <p:txBody>
          <a:bodyPr wrap="square">
            <a:spAutoFit/>
          </a:bodyPr>
          <a:lstStyle/>
          <a:p>
            <a:pPr>
              <a:spcAft>
                <a:spcPts val="700"/>
              </a:spcAft>
              <a:defRPr sz="1300" b="0">
                <a:solidFill>
                  <a:srgbClr val="141B2A"/>
                </a:solidFill>
                <a:latin typeface="Aptos"/>
              </a:defRPr>
            </a:pPr>
            <a:r>
              <a:t>$16.18bn</a:t>
            </a:r>
          </a:p>
        </p:txBody>
      </p:sp>
      <p:sp>
        <p:nvSpPr>
          <p:cNvPr id="25" name="TextBox 24"/>
          <p:cNvSpPr txBox="1"/>
          <p:nvPr/>
        </p:nvSpPr>
        <p:spPr>
          <a:xfrm>
            <a:off x="8019288" y="4251959"/>
            <a:ext cx="3310128" cy="310896"/>
          </a:xfrm>
          <a:prstGeom prst="rect">
            <a:avLst/>
          </a:prstGeom>
          <a:noFill/>
        </p:spPr>
        <p:txBody>
          <a:bodyPr wrap="square">
            <a:spAutoFit/>
          </a:bodyPr>
          <a:lstStyle/>
          <a:p>
            <a:pPr>
              <a:spcAft>
                <a:spcPts val="700"/>
              </a:spcAft>
              <a:defRPr sz="1300" b="0">
                <a:solidFill>
                  <a:srgbClr val="141B2A"/>
                </a:solidFill>
                <a:latin typeface="Aptos"/>
              </a:defRPr>
            </a:pPr>
            <a:r>
              <a:t>$24.11bn</a:t>
            </a:r>
          </a:p>
        </p:txBody>
      </p:sp>
      <p:sp>
        <p:nvSpPr>
          <p:cNvPr id="26" name="Rectangle 25"/>
          <p:cNvSpPr/>
          <p:nvPr/>
        </p:nvSpPr>
        <p:spPr>
          <a:xfrm>
            <a:off x="731520" y="4709160"/>
            <a:ext cx="1069848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4800600"/>
            <a:ext cx="3310128" cy="310896"/>
          </a:xfrm>
          <a:prstGeom prst="rect">
            <a:avLst/>
          </a:prstGeom>
          <a:noFill/>
        </p:spPr>
        <p:txBody>
          <a:bodyPr wrap="square">
            <a:spAutoFit/>
          </a:bodyPr>
          <a:lstStyle/>
          <a:p>
            <a:pPr>
              <a:spcAft>
                <a:spcPts val="700"/>
              </a:spcAft>
              <a:defRPr sz="1300" b="1">
                <a:solidFill>
                  <a:srgbClr val="141B2A"/>
                </a:solidFill>
                <a:latin typeface="Aptos"/>
              </a:defRPr>
            </a:pPr>
            <a:r>
              <a:t>FCFF</a:t>
            </a:r>
          </a:p>
        </p:txBody>
      </p:sp>
      <p:sp>
        <p:nvSpPr>
          <p:cNvPr id="28" name="TextBox 27"/>
          <p:cNvSpPr txBox="1"/>
          <p:nvPr/>
        </p:nvSpPr>
        <p:spPr>
          <a:xfrm>
            <a:off x="4453128" y="4800600"/>
            <a:ext cx="3310128" cy="310896"/>
          </a:xfrm>
          <a:prstGeom prst="rect">
            <a:avLst/>
          </a:prstGeom>
          <a:noFill/>
        </p:spPr>
        <p:txBody>
          <a:bodyPr wrap="square">
            <a:spAutoFit/>
          </a:bodyPr>
          <a:lstStyle/>
          <a:p>
            <a:pPr>
              <a:spcAft>
                <a:spcPts val="700"/>
              </a:spcAft>
              <a:defRPr sz="1300" b="0">
                <a:solidFill>
                  <a:srgbClr val="141B2A"/>
                </a:solidFill>
                <a:latin typeface="Aptos"/>
              </a:defRPr>
            </a:pPr>
            <a:r>
              <a:t>$10.93bn</a:t>
            </a:r>
          </a:p>
        </p:txBody>
      </p:sp>
      <p:sp>
        <p:nvSpPr>
          <p:cNvPr id="29" name="TextBox 28"/>
          <p:cNvSpPr txBox="1"/>
          <p:nvPr/>
        </p:nvSpPr>
        <p:spPr>
          <a:xfrm>
            <a:off x="8019288" y="4800600"/>
            <a:ext cx="3310128" cy="310896"/>
          </a:xfrm>
          <a:prstGeom prst="rect">
            <a:avLst/>
          </a:prstGeom>
          <a:noFill/>
        </p:spPr>
        <p:txBody>
          <a:bodyPr wrap="square">
            <a:spAutoFit/>
          </a:bodyPr>
          <a:lstStyle/>
          <a:p>
            <a:pPr>
              <a:spcAft>
                <a:spcPts val="700"/>
              </a:spcAft>
              <a:defRPr sz="1300" b="0">
                <a:solidFill>
                  <a:srgbClr val="141B2A"/>
                </a:solidFill>
                <a:latin typeface="Aptos"/>
              </a:defRPr>
            </a:pPr>
            <a:r>
              <a:t>$18.00bn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Enterprise value is not equity value</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Base-case valuation bridge</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05</a:t>
            </a:r>
          </a:p>
        </p:txBody>
      </p:sp>
      <p:sp>
        <p:nvSpPr>
          <p:cNvPr id="10" name="Rounded Rectangle 9"/>
          <p:cNvSpPr/>
          <p:nvPr/>
        </p:nvSpPr>
        <p:spPr>
          <a:xfrm>
            <a:off x="667512" y="2423160"/>
            <a:ext cx="3529584" cy="142646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2624328"/>
            <a:ext cx="3108960" cy="274320"/>
          </a:xfrm>
          <a:prstGeom prst="rect">
            <a:avLst/>
          </a:prstGeom>
          <a:noFill/>
        </p:spPr>
        <p:txBody>
          <a:bodyPr wrap="square">
            <a:spAutoFit/>
          </a:bodyPr>
          <a:lstStyle/>
          <a:p>
            <a:pPr>
              <a:spcAft>
                <a:spcPts val="700"/>
              </a:spcAft>
              <a:defRPr sz="1100" b="1">
                <a:solidFill>
                  <a:srgbClr val="4B5767"/>
                </a:solidFill>
                <a:latin typeface="Aptos"/>
              </a:defRPr>
            </a:pPr>
            <a:r>
              <a:t>EXPLICIT FCFF PV</a:t>
            </a:r>
          </a:p>
        </p:txBody>
      </p:sp>
      <p:sp>
        <p:nvSpPr>
          <p:cNvPr id="12" name="TextBox 11"/>
          <p:cNvSpPr txBox="1"/>
          <p:nvPr/>
        </p:nvSpPr>
        <p:spPr>
          <a:xfrm>
            <a:off x="877824" y="3090672"/>
            <a:ext cx="3108960" cy="630936"/>
          </a:xfrm>
          <a:prstGeom prst="rect">
            <a:avLst/>
          </a:prstGeom>
          <a:noFill/>
        </p:spPr>
        <p:txBody>
          <a:bodyPr wrap="square">
            <a:spAutoFit/>
          </a:bodyPr>
          <a:lstStyle/>
          <a:p>
            <a:pPr>
              <a:spcAft>
                <a:spcPts val="700"/>
              </a:spcAft>
              <a:defRPr sz="2900" b="1">
                <a:solidFill>
                  <a:srgbClr val="141B2A"/>
                </a:solidFill>
                <a:latin typeface="Aptos"/>
              </a:defRPr>
            </a:pPr>
            <a:r>
              <a:t>$56.40bn</a:t>
            </a:r>
          </a:p>
        </p:txBody>
      </p:sp>
      <p:sp>
        <p:nvSpPr>
          <p:cNvPr id="13" name="Rounded Rectangle 12"/>
          <p:cNvSpPr/>
          <p:nvPr/>
        </p:nvSpPr>
        <p:spPr>
          <a:xfrm>
            <a:off x="4443983" y="2423160"/>
            <a:ext cx="3529584" cy="142646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4296" y="2624328"/>
            <a:ext cx="3108960" cy="274320"/>
          </a:xfrm>
          <a:prstGeom prst="rect">
            <a:avLst/>
          </a:prstGeom>
          <a:noFill/>
        </p:spPr>
        <p:txBody>
          <a:bodyPr wrap="square">
            <a:spAutoFit/>
          </a:bodyPr>
          <a:lstStyle/>
          <a:p>
            <a:pPr>
              <a:spcAft>
                <a:spcPts val="700"/>
              </a:spcAft>
              <a:defRPr sz="1100" b="1">
                <a:solidFill>
                  <a:srgbClr val="4B5767"/>
                </a:solidFill>
                <a:latin typeface="Aptos"/>
              </a:defRPr>
            </a:pPr>
            <a:r>
              <a:t>TERMINAL PV</a:t>
            </a:r>
          </a:p>
        </p:txBody>
      </p:sp>
      <p:sp>
        <p:nvSpPr>
          <p:cNvPr id="15" name="TextBox 14"/>
          <p:cNvSpPr txBox="1"/>
          <p:nvPr/>
        </p:nvSpPr>
        <p:spPr>
          <a:xfrm>
            <a:off x="4654296" y="3090672"/>
            <a:ext cx="3108960" cy="630936"/>
          </a:xfrm>
          <a:prstGeom prst="rect">
            <a:avLst/>
          </a:prstGeom>
          <a:noFill/>
        </p:spPr>
        <p:txBody>
          <a:bodyPr wrap="square">
            <a:spAutoFit/>
          </a:bodyPr>
          <a:lstStyle/>
          <a:p>
            <a:pPr>
              <a:spcAft>
                <a:spcPts val="700"/>
              </a:spcAft>
              <a:defRPr sz="2900" b="1">
                <a:solidFill>
                  <a:srgbClr val="141B2A"/>
                </a:solidFill>
                <a:latin typeface="Aptos"/>
              </a:defRPr>
            </a:pPr>
            <a:r>
              <a:t>+$170.02bn</a:t>
            </a:r>
          </a:p>
        </p:txBody>
      </p:sp>
      <p:sp>
        <p:nvSpPr>
          <p:cNvPr id="16" name="Rounded Rectangle 15"/>
          <p:cNvSpPr/>
          <p:nvPr/>
        </p:nvSpPr>
        <p:spPr>
          <a:xfrm>
            <a:off x="8220456" y="2423160"/>
            <a:ext cx="3529584" cy="142646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0768" y="2624328"/>
            <a:ext cx="3108960" cy="274320"/>
          </a:xfrm>
          <a:prstGeom prst="rect">
            <a:avLst/>
          </a:prstGeom>
          <a:noFill/>
        </p:spPr>
        <p:txBody>
          <a:bodyPr wrap="square">
            <a:spAutoFit/>
          </a:bodyPr>
          <a:lstStyle/>
          <a:p>
            <a:pPr>
              <a:spcAft>
                <a:spcPts val="700"/>
              </a:spcAft>
              <a:defRPr sz="1100" b="1">
                <a:solidFill>
                  <a:srgbClr val="4B5767"/>
                </a:solidFill>
                <a:latin typeface="Aptos"/>
              </a:defRPr>
            </a:pPr>
            <a:r>
              <a:t>ENTERPRISE VALUE</a:t>
            </a:r>
          </a:p>
        </p:txBody>
      </p:sp>
      <p:sp>
        <p:nvSpPr>
          <p:cNvPr id="18" name="TextBox 17"/>
          <p:cNvSpPr txBox="1"/>
          <p:nvPr/>
        </p:nvSpPr>
        <p:spPr>
          <a:xfrm>
            <a:off x="8430768" y="3090672"/>
            <a:ext cx="3108960" cy="630936"/>
          </a:xfrm>
          <a:prstGeom prst="rect">
            <a:avLst/>
          </a:prstGeom>
          <a:noFill/>
        </p:spPr>
        <p:txBody>
          <a:bodyPr wrap="square">
            <a:spAutoFit/>
          </a:bodyPr>
          <a:lstStyle/>
          <a:p>
            <a:pPr>
              <a:spcAft>
                <a:spcPts val="700"/>
              </a:spcAft>
              <a:defRPr sz="2900" b="1">
                <a:solidFill>
                  <a:srgbClr val="141B2A"/>
                </a:solidFill>
                <a:latin typeface="Aptos"/>
              </a:defRPr>
            </a:pPr>
            <a:r>
              <a:t>$226.42bn</a:t>
            </a:r>
          </a:p>
        </p:txBody>
      </p:sp>
      <p:sp>
        <p:nvSpPr>
          <p:cNvPr id="19" name="Rounded Rectangle 18"/>
          <p:cNvSpPr/>
          <p:nvPr/>
        </p:nvSpPr>
        <p:spPr>
          <a:xfrm>
            <a:off x="667512" y="4005072"/>
            <a:ext cx="3529584" cy="142646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 y="4206240"/>
            <a:ext cx="3108960" cy="274320"/>
          </a:xfrm>
          <a:prstGeom prst="rect">
            <a:avLst/>
          </a:prstGeom>
          <a:noFill/>
        </p:spPr>
        <p:txBody>
          <a:bodyPr wrap="square">
            <a:spAutoFit/>
          </a:bodyPr>
          <a:lstStyle/>
          <a:p>
            <a:pPr>
              <a:spcAft>
                <a:spcPts val="700"/>
              </a:spcAft>
              <a:defRPr sz="1100" b="1">
                <a:solidFill>
                  <a:srgbClr val="4B5767"/>
                </a:solidFill>
                <a:latin typeface="Aptos"/>
              </a:defRPr>
            </a:pPr>
            <a:r>
              <a:t>CASH LESS DEBT</a:t>
            </a:r>
          </a:p>
        </p:txBody>
      </p:sp>
      <p:sp>
        <p:nvSpPr>
          <p:cNvPr id="21" name="TextBox 20"/>
          <p:cNvSpPr txBox="1"/>
          <p:nvPr/>
        </p:nvSpPr>
        <p:spPr>
          <a:xfrm>
            <a:off x="877824" y="4672583"/>
            <a:ext cx="3108960" cy="630936"/>
          </a:xfrm>
          <a:prstGeom prst="rect">
            <a:avLst/>
          </a:prstGeom>
          <a:noFill/>
        </p:spPr>
        <p:txBody>
          <a:bodyPr wrap="square">
            <a:spAutoFit/>
          </a:bodyPr>
          <a:lstStyle/>
          <a:p>
            <a:pPr>
              <a:spcAft>
                <a:spcPts val="700"/>
              </a:spcAft>
              <a:defRPr sz="2900" b="1">
                <a:solidFill>
                  <a:srgbClr val="141B2A"/>
                </a:solidFill>
                <a:latin typeface="Aptos"/>
              </a:defRPr>
            </a:pPr>
            <a:r>
              <a:t>−$5.40bn</a:t>
            </a:r>
          </a:p>
        </p:txBody>
      </p:sp>
      <p:sp>
        <p:nvSpPr>
          <p:cNvPr id="22" name="Rounded Rectangle 21"/>
          <p:cNvSpPr/>
          <p:nvPr/>
        </p:nvSpPr>
        <p:spPr>
          <a:xfrm>
            <a:off x="4443983" y="4005072"/>
            <a:ext cx="3529584" cy="142646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54296" y="4206240"/>
            <a:ext cx="3108960" cy="274320"/>
          </a:xfrm>
          <a:prstGeom prst="rect">
            <a:avLst/>
          </a:prstGeom>
          <a:noFill/>
        </p:spPr>
        <p:txBody>
          <a:bodyPr wrap="square">
            <a:spAutoFit/>
          </a:bodyPr>
          <a:lstStyle/>
          <a:p>
            <a:pPr>
              <a:spcAft>
                <a:spcPts val="700"/>
              </a:spcAft>
              <a:defRPr sz="1100" b="1">
                <a:solidFill>
                  <a:srgbClr val="4B5767"/>
                </a:solidFill>
                <a:latin typeface="Aptos"/>
              </a:defRPr>
            </a:pPr>
            <a:r>
              <a:t>EQUITY VALUE</a:t>
            </a:r>
          </a:p>
        </p:txBody>
      </p:sp>
      <p:sp>
        <p:nvSpPr>
          <p:cNvPr id="24" name="TextBox 23"/>
          <p:cNvSpPr txBox="1"/>
          <p:nvPr/>
        </p:nvSpPr>
        <p:spPr>
          <a:xfrm>
            <a:off x="4654296" y="4672583"/>
            <a:ext cx="3108960" cy="630936"/>
          </a:xfrm>
          <a:prstGeom prst="rect">
            <a:avLst/>
          </a:prstGeom>
          <a:noFill/>
        </p:spPr>
        <p:txBody>
          <a:bodyPr wrap="square">
            <a:spAutoFit/>
          </a:bodyPr>
          <a:lstStyle/>
          <a:p>
            <a:pPr>
              <a:spcAft>
                <a:spcPts val="700"/>
              </a:spcAft>
              <a:defRPr sz="2900" b="1">
                <a:solidFill>
                  <a:srgbClr val="141B2A"/>
                </a:solidFill>
                <a:latin typeface="Aptos"/>
              </a:defRPr>
            </a:pPr>
            <a:r>
              <a:t>$221.02bn</a:t>
            </a:r>
          </a:p>
        </p:txBody>
      </p:sp>
      <p:sp>
        <p:nvSpPr>
          <p:cNvPr id="25" name="Rounded Rectangle 24"/>
          <p:cNvSpPr/>
          <p:nvPr/>
        </p:nvSpPr>
        <p:spPr>
          <a:xfrm>
            <a:off x="8220456" y="4005072"/>
            <a:ext cx="3529584" cy="142646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30768" y="4206240"/>
            <a:ext cx="3108960" cy="274320"/>
          </a:xfrm>
          <a:prstGeom prst="rect">
            <a:avLst/>
          </a:prstGeom>
          <a:noFill/>
        </p:spPr>
        <p:txBody>
          <a:bodyPr wrap="square">
            <a:spAutoFit/>
          </a:bodyPr>
          <a:lstStyle/>
          <a:p>
            <a:pPr>
              <a:spcAft>
                <a:spcPts val="700"/>
              </a:spcAft>
              <a:defRPr sz="1100" b="1">
                <a:solidFill>
                  <a:srgbClr val="4B5767"/>
                </a:solidFill>
                <a:latin typeface="Aptos"/>
              </a:defRPr>
            </a:pPr>
            <a:r>
              <a:t>PER SHARE</a:t>
            </a:r>
          </a:p>
        </p:txBody>
      </p:sp>
      <p:sp>
        <p:nvSpPr>
          <p:cNvPr id="27" name="TextBox 26"/>
          <p:cNvSpPr txBox="1"/>
          <p:nvPr/>
        </p:nvSpPr>
        <p:spPr>
          <a:xfrm>
            <a:off x="8430768" y="4672583"/>
            <a:ext cx="3108960" cy="630936"/>
          </a:xfrm>
          <a:prstGeom prst="rect">
            <a:avLst/>
          </a:prstGeom>
          <a:noFill/>
        </p:spPr>
        <p:txBody>
          <a:bodyPr wrap="square">
            <a:spAutoFit/>
          </a:bodyPr>
          <a:lstStyle/>
          <a:p>
            <a:pPr>
              <a:spcAft>
                <a:spcPts val="700"/>
              </a:spcAft>
              <a:defRPr sz="2900" b="1">
                <a:solidFill>
                  <a:srgbClr val="141B2A"/>
                </a:solidFill>
                <a:latin typeface="Aptos"/>
              </a:defRPr>
            </a:pPr>
            <a:r>
              <a:t>$51.20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The discount rate materially changes value</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WACC stress test</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06</a:t>
            </a:r>
          </a:p>
        </p:txBody>
      </p:sp>
      <p:sp>
        <p:nvSpPr>
          <p:cNvPr id="10" name="Rounded Rectangle 9"/>
          <p:cNvSpPr/>
          <p:nvPr/>
        </p:nvSpPr>
        <p:spPr>
          <a:xfrm>
            <a:off x="1005840" y="2560320"/>
            <a:ext cx="4800600"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16152" y="2761488"/>
            <a:ext cx="4379976" cy="274320"/>
          </a:xfrm>
          <a:prstGeom prst="rect">
            <a:avLst/>
          </a:prstGeom>
          <a:noFill/>
        </p:spPr>
        <p:txBody>
          <a:bodyPr wrap="square">
            <a:spAutoFit/>
          </a:bodyPr>
          <a:lstStyle/>
          <a:p>
            <a:pPr>
              <a:spcAft>
                <a:spcPts val="700"/>
              </a:spcAft>
              <a:defRPr sz="1100" b="1">
                <a:solidFill>
                  <a:srgbClr val="4B5767"/>
                </a:solidFill>
                <a:latin typeface="Aptos"/>
              </a:defRPr>
            </a:pPr>
            <a:r>
              <a:t>9% WACC</a:t>
            </a:r>
          </a:p>
        </p:txBody>
      </p:sp>
      <p:sp>
        <p:nvSpPr>
          <p:cNvPr id="12" name="TextBox 11"/>
          <p:cNvSpPr txBox="1"/>
          <p:nvPr/>
        </p:nvSpPr>
        <p:spPr>
          <a:xfrm>
            <a:off x="1216152" y="3227832"/>
            <a:ext cx="4379976" cy="630936"/>
          </a:xfrm>
          <a:prstGeom prst="rect">
            <a:avLst/>
          </a:prstGeom>
          <a:noFill/>
        </p:spPr>
        <p:txBody>
          <a:bodyPr wrap="square">
            <a:spAutoFit/>
          </a:bodyPr>
          <a:lstStyle/>
          <a:p>
            <a:pPr>
              <a:spcAft>
                <a:spcPts val="700"/>
              </a:spcAft>
              <a:defRPr sz="2900" b="1">
                <a:solidFill>
                  <a:srgbClr val="141B2A"/>
                </a:solidFill>
                <a:latin typeface="Aptos"/>
              </a:defRPr>
            </a:pPr>
            <a:r>
              <a:t>$51.20</a:t>
            </a:r>
          </a:p>
        </p:txBody>
      </p:sp>
      <p:sp>
        <p:nvSpPr>
          <p:cNvPr id="13" name="Rounded Rectangle 12"/>
          <p:cNvSpPr/>
          <p:nvPr/>
        </p:nvSpPr>
        <p:spPr>
          <a:xfrm>
            <a:off x="6309360" y="2560320"/>
            <a:ext cx="4800600"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9672" y="2761488"/>
            <a:ext cx="4379976" cy="274320"/>
          </a:xfrm>
          <a:prstGeom prst="rect">
            <a:avLst/>
          </a:prstGeom>
          <a:noFill/>
        </p:spPr>
        <p:txBody>
          <a:bodyPr wrap="square">
            <a:spAutoFit/>
          </a:bodyPr>
          <a:lstStyle/>
          <a:p>
            <a:pPr>
              <a:spcAft>
                <a:spcPts val="700"/>
              </a:spcAft>
              <a:defRPr sz="1100" b="1">
                <a:solidFill>
                  <a:srgbClr val="4B5767"/>
                </a:solidFill>
                <a:latin typeface="Aptos"/>
              </a:defRPr>
            </a:pPr>
            <a:r>
              <a:t>12% WACC</a:t>
            </a:r>
          </a:p>
        </p:txBody>
      </p:sp>
      <p:sp>
        <p:nvSpPr>
          <p:cNvPr id="15" name="TextBox 14"/>
          <p:cNvSpPr txBox="1"/>
          <p:nvPr/>
        </p:nvSpPr>
        <p:spPr>
          <a:xfrm>
            <a:off x="6519672" y="3227832"/>
            <a:ext cx="4379976" cy="630936"/>
          </a:xfrm>
          <a:prstGeom prst="rect">
            <a:avLst/>
          </a:prstGeom>
          <a:noFill/>
        </p:spPr>
        <p:txBody>
          <a:bodyPr wrap="square">
            <a:spAutoFit/>
          </a:bodyPr>
          <a:lstStyle/>
          <a:p>
            <a:pPr>
              <a:spcAft>
                <a:spcPts val="700"/>
              </a:spcAft>
              <a:defRPr sz="2900" b="1">
                <a:solidFill>
                  <a:srgbClr val="141B2A"/>
                </a:solidFill>
                <a:latin typeface="Aptos"/>
              </a:defRPr>
            </a:pPr>
            <a:r>
              <a:t>$33.71</a:t>
            </a:r>
          </a:p>
        </p:txBody>
      </p:sp>
      <p:sp>
        <p:nvSpPr>
          <p:cNvPr id="16" name="TextBox 15"/>
          <p:cNvSpPr txBox="1"/>
          <p:nvPr/>
        </p:nvSpPr>
        <p:spPr>
          <a:xfrm>
            <a:off x="4526280" y="5193792"/>
            <a:ext cx="3383280" cy="548640"/>
          </a:xfrm>
          <a:prstGeom prst="rect">
            <a:avLst/>
          </a:prstGeom>
          <a:noFill/>
        </p:spPr>
        <p:txBody>
          <a:bodyPr wrap="square">
            <a:spAutoFit/>
          </a:bodyPr>
          <a:lstStyle/>
          <a:p>
            <a:pPr algn="ctr">
              <a:spcAft>
                <a:spcPts val="700"/>
              </a:spcAft>
              <a:defRPr sz="1800" b="1">
                <a:solidFill>
                  <a:srgbClr val="CD182B"/>
                </a:solidFill>
                <a:latin typeface="Aptos"/>
              </a:defRPr>
            </a:pPr>
            <a:r>
              <a:t>−34.2% value/share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Tests are designed to fail when wrong</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Validation architecture</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07</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Known answer: $100 / 10% = $1,000</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Balance sheet, cash and FCFF/FCFE reconcile</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t>Invalid rates and corrupted balances trigger failures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553998"/>
          </a:xfrm>
          <a:prstGeom prst="rect">
            <a:avLst/>
          </a:prstGeom>
          <a:noFill/>
        </p:spPr>
        <p:txBody>
          <a:bodyPr wrap="square">
            <a:spAutoFit/>
          </a:bodyPr>
          <a:lstStyle/>
          <a:p>
            <a:pPr>
              <a:spcAft>
                <a:spcPts val="700"/>
              </a:spcAft>
              <a:defRPr sz="3000" b="1">
                <a:solidFill>
                  <a:srgbClr val="141B2A"/>
                </a:solidFill>
                <a:latin typeface="Aptos"/>
              </a:defRPr>
            </a:pPr>
            <a:r>
              <a:rPr lang="en-US" dirty="0"/>
              <a:t>How I Verified My Model</a:t>
            </a:r>
            <a:endParaRPr dirty="0"/>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What was done vs. still needed</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rPr dirty="0"/>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08</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 y="2379100"/>
            <a:ext cx="10149840" cy="1913344"/>
          </a:xfrm>
          <a:prstGeom prst="rect">
            <a:avLst/>
          </a:prstGeom>
          <a:noFill/>
        </p:spPr>
        <p:txBody>
          <a:bodyPr wrap="square">
            <a:spAutoFit/>
          </a:bodyPr>
          <a:lstStyle/>
          <a:p>
            <a:pPr>
              <a:spcAft>
                <a:spcPts val="700"/>
              </a:spcAft>
              <a:defRPr sz="1900" b="0">
                <a:solidFill>
                  <a:srgbClr val="141B2A"/>
                </a:solidFill>
                <a:latin typeface="Aptos"/>
              </a:defRPr>
            </a:pPr>
            <a:r>
              <a:rPr lang="en-US" dirty="0"/>
              <a:t>Validation complete</a:t>
            </a:r>
          </a:p>
          <a:p>
            <a:pPr marL="342900" indent="-342900">
              <a:spcAft>
                <a:spcPts val="700"/>
              </a:spcAft>
              <a:buFontTx/>
              <a:buChar char="-"/>
              <a:defRPr sz="1900" b="0">
                <a:solidFill>
                  <a:srgbClr val="141B2A"/>
                </a:solidFill>
                <a:latin typeface="Aptos"/>
              </a:defRPr>
            </a:pPr>
            <a:r>
              <a:rPr lang="en-US" dirty="0"/>
              <a:t>Reconciled projected financial statements and cash flows.</a:t>
            </a:r>
          </a:p>
          <a:p>
            <a:pPr marL="342900" indent="-342900">
              <a:spcAft>
                <a:spcPts val="700"/>
              </a:spcAft>
              <a:buFontTx/>
              <a:buChar char="-"/>
              <a:defRPr sz="1900" b="0">
                <a:solidFill>
                  <a:srgbClr val="141B2A"/>
                </a:solidFill>
                <a:latin typeface="Aptos"/>
              </a:defRPr>
            </a:pPr>
            <a:r>
              <a:rPr lang="en-US" dirty="0"/>
              <a:t>Tested DCF calculations against a known-answer example.</a:t>
            </a:r>
          </a:p>
          <a:p>
            <a:pPr marL="342900" indent="-342900">
              <a:spcAft>
                <a:spcPts val="700"/>
              </a:spcAft>
              <a:buFontTx/>
              <a:buChar char="-"/>
              <a:defRPr sz="1900" b="0">
                <a:solidFill>
                  <a:srgbClr val="141B2A"/>
                </a:solidFill>
                <a:latin typeface="Aptos"/>
              </a:defRPr>
            </a:pPr>
            <a:r>
              <a:rPr lang="en-US" dirty="0"/>
              <a:t>Tested how changing WACC affects intrinsic value.</a:t>
            </a:r>
          </a:p>
          <a:p>
            <a:pPr marL="342900" indent="-342900">
              <a:spcAft>
                <a:spcPts val="700"/>
              </a:spcAft>
              <a:buFontTx/>
              <a:buChar char="-"/>
              <a:defRPr sz="1900" b="0">
                <a:solidFill>
                  <a:srgbClr val="141B2A"/>
                </a:solidFill>
                <a:latin typeface="Aptos"/>
              </a:defRPr>
            </a:pPr>
            <a:r>
              <a:rPr lang="en-US" dirty="0"/>
              <a:t>Used intentional errors to check whether the model catches inconsistencies.</a:t>
            </a:r>
          </a:p>
        </p:txBody>
      </p:sp>
      <p:sp>
        <p:nvSpPr>
          <p:cNvPr id="12" name="Rectangle 11"/>
          <p:cNvSpPr/>
          <p:nvPr/>
        </p:nvSpPr>
        <p:spPr>
          <a:xfrm>
            <a:off x="763524" y="4828032"/>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0976" y="4706840"/>
            <a:ext cx="10149840" cy="1149033"/>
          </a:xfrm>
          <a:prstGeom prst="rect">
            <a:avLst/>
          </a:prstGeom>
          <a:noFill/>
        </p:spPr>
        <p:txBody>
          <a:bodyPr wrap="square">
            <a:spAutoFit/>
          </a:bodyPr>
          <a:lstStyle/>
          <a:p>
            <a:pPr>
              <a:spcAft>
                <a:spcPts val="700"/>
              </a:spcAft>
              <a:defRPr sz="1900" b="0">
                <a:solidFill>
                  <a:srgbClr val="141B2A"/>
                </a:solidFill>
                <a:latin typeface="Aptos"/>
              </a:defRPr>
            </a:pPr>
            <a:r>
              <a:rPr lang="en-US" dirty="0"/>
              <a:t>Remaining limitations</a:t>
            </a:r>
          </a:p>
          <a:p>
            <a:pPr marL="342900" indent="-342900">
              <a:spcAft>
                <a:spcPts val="700"/>
              </a:spcAft>
              <a:buFontTx/>
              <a:buChar char="-"/>
              <a:defRPr sz="1900" b="0">
                <a:solidFill>
                  <a:srgbClr val="141B2A"/>
                </a:solidFill>
                <a:latin typeface="Aptos"/>
              </a:defRPr>
            </a:pPr>
            <a:r>
              <a:rPr lang="en-US" dirty="0"/>
              <a:t>Passing tests does not guarantee the forecasts are accurate</a:t>
            </a:r>
          </a:p>
          <a:p>
            <a:pPr marL="342900" indent="-342900">
              <a:spcAft>
                <a:spcPts val="700"/>
              </a:spcAft>
              <a:buFontTx/>
              <a:buChar char="-"/>
              <a:defRPr sz="1900" b="0">
                <a:solidFill>
                  <a:srgbClr val="141B2A"/>
                </a:solidFill>
                <a:latin typeface="Aptos"/>
              </a:defRPr>
            </a:pPr>
            <a:r>
              <a:rPr lang="en-US" dirty="0"/>
              <a:t>Some course-specific validation evidence still requires completion</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2</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A transparent model supports—but does not own—the decision</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Model limitations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09</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Linked statements and checks improve reproducibility</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Terminal assumptions drive significant estimated value</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t>I must defend the inputs, cutoff, and WBD exclusion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1958</Words>
  <Application>Microsoft Macintosh PowerPoint</Application>
  <PresentationFormat>Widescreen</PresentationFormat>
  <Paragraphs>188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Alina Mato</cp:lastModifiedBy>
  <cp:revision>2</cp:revision>
  <dcterms:created xsi:type="dcterms:W3CDTF">2013-01-27T09:14:16Z</dcterms:created>
  <dcterms:modified xsi:type="dcterms:W3CDTF">2026-10-18T21:27:19Z</dcterms:modified>
  <cp:category/>
</cp:coreProperties>
</file>